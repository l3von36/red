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</p:sldIdLst>
  <p:sldSz cx="12188952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1B2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3291840"/>
            <a:ext cx="12188952" cy="54864"/>
          </a:xfrm>
          <a:prstGeom prst="rect">
            <a:avLst/>
          </a:prstGeom>
          <a:solidFill>
            <a:srgbClr val="E6A8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457200" y="822960"/>
            <a:ext cx="11274552" cy="242316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94360" y="914400"/>
            <a:ext cx="11000232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800" b="1" i="0">
                <a:solidFill>
                  <a:srgbClr val="1B2A4A"/>
                </a:solidFill>
                <a:latin typeface="Calibri"/>
              </a:rPr>
              <a:t>Hypergraph Neural ODEs with Observation Assimilation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94360" y="1874519"/>
            <a:ext cx="11000232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 i="0">
                <a:solidFill>
                  <a:srgbClr val="2E6FD9"/>
                </a:solidFill>
                <a:latin typeface="Calibri"/>
              </a:rPr>
              <a:t>for Sparse Traffic Speed Imputation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94360" y="2377440"/>
            <a:ext cx="11000232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1">
                <a:solidFill>
                  <a:srgbClr val="555555"/>
                </a:solidFill>
                <a:latin typeface="Calibri"/>
              </a:rPr>
              <a:t>PEMS04 Benchmark  ·  307 Sensors  ·  80% Sparsity</a:t>
            </a:r>
          </a:p>
        </p:txBody>
      </p:sp>
      <p:sp>
        <p:nvSpPr>
          <p:cNvPr id="8" name="Rectangle 7"/>
          <p:cNvSpPr/>
          <p:nvPr/>
        </p:nvSpPr>
        <p:spPr>
          <a:xfrm>
            <a:off x="502920" y="3520440"/>
            <a:ext cx="2651760" cy="1325880"/>
          </a:xfrm>
          <a:prstGeom prst="rect">
            <a:avLst/>
          </a:prstGeom>
          <a:solidFill>
            <a:srgbClr val="2E6F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02920" y="3584448"/>
            <a:ext cx="26517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0">
                <a:solidFill>
                  <a:srgbClr val="FFFFFF"/>
                </a:solidFill>
                <a:latin typeface="Calibri"/>
              </a:rPr>
              <a:t>Dataset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02920" y="3931920"/>
            <a:ext cx="265176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00" b="1" i="0">
                <a:solidFill>
                  <a:srgbClr val="FFFFFF"/>
                </a:solidFill>
                <a:latin typeface="Calibri"/>
              </a:rPr>
              <a:t>PEMS04</a:t>
            </a:r>
          </a:p>
        </p:txBody>
      </p:sp>
      <p:sp>
        <p:nvSpPr>
          <p:cNvPr id="11" name="Rectangle 10"/>
          <p:cNvSpPr/>
          <p:nvPr/>
        </p:nvSpPr>
        <p:spPr>
          <a:xfrm>
            <a:off x="3383280" y="3520440"/>
            <a:ext cx="2651760" cy="1325880"/>
          </a:xfrm>
          <a:prstGeom prst="rect">
            <a:avLst/>
          </a:prstGeom>
          <a:solidFill>
            <a:srgbClr val="2E6F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3383280" y="3584448"/>
            <a:ext cx="26517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0">
                <a:solidFill>
                  <a:srgbClr val="FFFFFF"/>
                </a:solidFill>
                <a:latin typeface="Calibri"/>
              </a:rPr>
              <a:t>Sensors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383280" y="3931920"/>
            <a:ext cx="265176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00" b="1" i="0">
                <a:solidFill>
                  <a:srgbClr val="FFFFFF"/>
                </a:solidFill>
                <a:latin typeface="Calibri"/>
              </a:rPr>
              <a:t>307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263640" y="3520440"/>
            <a:ext cx="2651760" cy="1325880"/>
          </a:xfrm>
          <a:prstGeom prst="rect">
            <a:avLst/>
          </a:prstGeom>
          <a:solidFill>
            <a:srgbClr val="2E6F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263640" y="3584448"/>
            <a:ext cx="26517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0">
                <a:solidFill>
                  <a:srgbClr val="FFFFFF"/>
                </a:solidFill>
                <a:latin typeface="Calibri"/>
              </a:rPr>
              <a:t>Sparsity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263640" y="3931920"/>
            <a:ext cx="265176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00" b="1" i="0">
                <a:solidFill>
                  <a:srgbClr val="FFFFFF"/>
                </a:solidFill>
                <a:latin typeface="Calibri"/>
              </a:rPr>
              <a:t>80%</a:t>
            </a:r>
          </a:p>
        </p:txBody>
      </p:sp>
      <p:sp>
        <p:nvSpPr>
          <p:cNvPr id="17" name="Rectangle 16"/>
          <p:cNvSpPr/>
          <p:nvPr/>
        </p:nvSpPr>
        <p:spPr>
          <a:xfrm>
            <a:off x="9144000" y="3520440"/>
            <a:ext cx="2651760" cy="1325880"/>
          </a:xfrm>
          <a:prstGeom prst="rect">
            <a:avLst/>
          </a:prstGeom>
          <a:solidFill>
            <a:srgbClr val="2E6F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144000" y="3584448"/>
            <a:ext cx="26517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0">
                <a:solidFill>
                  <a:srgbClr val="FFFFFF"/>
                </a:solidFill>
                <a:latin typeface="Calibri"/>
              </a:rPr>
              <a:t>Task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144000" y="3931920"/>
            <a:ext cx="265176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00" b="1" i="0">
                <a:solidFill>
                  <a:srgbClr val="FFFFFF"/>
                </a:solidFill>
                <a:latin typeface="Calibri"/>
              </a:rPr>
              <a:t>Imputation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57200" y="5074920"/>
            <a:ext cx="11274552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1">
                <a:solidFill>
                  <a:srgbClr val="FFFFFF"/>
                </a:solidFill>
                <a:latin typeface="Calibri"/>
              </a:rPr>
              <a:t>MSc Thesis Presentation</a:t>
            </a:r>
          </a:p>
        </p:txBody>
      </p:sp>
      <p:sp>
        <p:nvSpPr>
          <p:cNvPr id="21" name="Rectangle 20"/>
          <p:cNvSpPr/>
          <p:nvPr/>
        </p:nvSpPr>
        <p:spPr>
          <a:xfrm>
            <a:off x="0" y="6537960"/>
            <a:ext cx="12188952" cy="320040"/>
          </a:xfrm>
          <a:prstGeom prst="rect">
            <a:avLst/>
          </a:prstGeom>
          <a:solidFill>
            <a:srgbClr val="2E6F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11640312" y="6565392"/>
            <a:ext cx="4572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 i="0"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274320" y="6565392"/>
            <a:ext cx="73152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FFFFFF"/>
                </a:solidFill>
                <a:latin typeface="Calibri"/>
              </a:rPr>
              <a:t>Hypergraph Neural ODEs for Sparse Traffic Imputation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594360"/>
          </a:xfrm>
          <a:prstGeom prst="rect">
            <a:avLst/>
          </a:prstGeom>
          <a:solidFill>
            <a:srgbClr val="1B2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74320" y="91440"/>
            <a:ext cx="11640312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 i="0">
                <a:solidFill>
                  <a:srgbClr val="FFFFFF"/>
                </a:solidFill>
                <a:latin typeface="Calibri"/>
              </a:rPr>
              <a:t>2</a:t>
            </a:r>
          </a:p>
        </p:txBody>
      </p:sp>
      <p:sp>
        <p:nvSpPr>
          <p:cNvPr id="4" name="Rectangle 3"/>
          <p:cNvSpPr/>
          <p:nvPr/>
        </p:nvSpPr>
        <p:spPr>
          <a:xfrm>
            <a:off x="274320" y="731520"/>
            <a:ext cx="64008" cy="502920"/>
          </a:xfrm>
          <a:prstGeom prst="rect">
            <a:avLst/>
          </a:prstGeom>
          <a:solidFill>
            <a:srgbClr val="2E6F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02920" y="685800"/>
            <a:ext cx="11274552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 i="0">
                <a:solidFill>
                  <a:srgbClr val="1B2A4A"/>
                </a:solidFill>
                <a:latin typeface="Calibri"/>
              </a:rPr>
              <a:t>Why Does This Problem Exist?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1207008"/>
            <a:ext cx="11274552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1">
                <a:solidFill>
                  <a:srgbClr val="555555"/>
                </a:solidFill>
                <a:latin typeface="Calibri"/>
              </a:rPr>
              <a:t>Real sensor networks are never complete</a:t>
            </a:r>
          </a:p>
        </p:txBody>
      </p:sp>
      <p:sp>
        <p:nvSpPr>
          <p:cNvPr id="7" name="Rectangle 6"/>
          <p:cNvSpPr/>
          <p:nvPr/>
        </p:nvSpPr>
        <p:spPr>
          <a:xfrm>
            <a:off x="320040" y="1554480"/>
            <a:ext cx="3749039" cy="4206240"/>
          </a:xfrm>
          <a:prstGeom prst="rect">
            <a:avLst/>
          </a:prstGeom>
          <a:solidFill>
            <a:srgbClr val="EBF1FA"/>
          </a:solidFill>
          <a:ln w="6350">
            <a:solidFill>
              <a:srgbClr val="C5D6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1664208"/>
            <a:ext cx="3474719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1B2A4A"/>
                </a:solidFill>
                <a:latin typeface="Calibri"/>
              </a:rPr>
              <a:t>The Problem</a:t>
            </a:r>
          </a:p>
        </p:txBody>
      </p:sp>
      <p:sp>
        <p:nvSpPr>
          <p:cNvPr id="9" name="Rectangle 8"/>
          <p:cNvSpPr/>
          <p:nvPr/>
        </p:nvSpPr>
        <p:spPr>
          <a:xfrm>
            <a:off x="457200" y="2048256"/>
            <a:ext cx="3474719" cy="18288"/>
          </a:xfrm>
          <a:prstGeom prst="rect">
            <a:avLst/>
          </a:prstGeom>
          <a:solidFill>
            <a:srgbClr val="2E6F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84632" y="2121408"/>
            <a:ext cx="3419855" cy="3474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300"/>
              </a:spcBef>
            </a:pPr>
            <a:r>
              <a:rPr sz="1250">
                <a:solidFill>
                  <a:srgbClr val="1C1C1C"/>
                </a:solidFill>
                <a:latin typeface="Calibri"/>
              </a:rPr>
              <a:t>▸  Hardware failures &amp; maintenance windows</a:t>
            </a:r>
          </a:p>
          <a:p>
            <a:pPr>
              <a:spcBef>
                <a:spcPts val="300"/>
              </a:spcBef>
            </a:pPr>
            <a:r>
              <a:rPr sz="1250">
                <a:solidFill>
                  <a:srgbClr val="1C1C1C"/>
                </a:solidFill>
                <a:latin typeface="Calibri"/>
              </a:rPr>
              <a:t>▸  Budget constraints — sensors are expensive</a:t>
            </a:r>
          </a:p>
          <a:p>
            <a:pPr>
              <a:spcBef>
                <a:spcPts val="300"/>
              </a:spcBef>
            </a:pPr>
            <a:r>
              <a:rPr sz="1250">
                <a:solidFill>
                  <a:srgbClr val="1C1C1C"/>
                </a:solidFill>
                <a:latin typeface="Calibri"/>
              </a:rPr>
              <a:t>▸  Road geometry limits sensor placement</a:t>
            </a:r>
          </a:p>
          <a:p>
            <a:pPr>
              <a:spcBef>
                <a:spcPts val="300"/>
              </a:spcBef>
            </a:pPr>
            <a:r>
              <a:rPr sz="1250">
                <a:solidFill>
                  <a:srgbClr val="1C1C1C"/>
                </a:solidFill>
                <a:latin typeface="Calibri"/>
              </a:rPr>
              <a:t>▸  → Many sensors are DARK at any moment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206240" y="1554480"/>
            <a:ext cx="3749039" cy="4206240"/>
          </a:xfrm>
          <a:prstGeom prst="rect">
            <a:avLst/>
          </a:prstGeom>
          <a:solidFill>
            <a:srgbClr val="E8F5E9"/>
          </a:solidFill>
          <a:ln w="6350">
            <a:solidFill>
              <a:srgbClr val="C5D6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343400" y="1664208"/>
            <a:ext cx="3474719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1B2A4A"/>
                </a:solidFill>
                <a:latin typeface="Calibri"/>
              </a:rPr>
              <a:t>The Scale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343400" y="2048256"/>
            <a:ext cx="3474719" cy="18288"/>
          </a:xfrm>
          <a:prstGeom prst="rect">
            <a:avLst/>
          </a:prstGeom>
          <a:solidFill>
            <a:srgbClr val="2E6F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370832" y="2121408"/>
            <a:ext cx="3419855" cy="3474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300"/>
              </a:spcBef>
            </a:pPr>
            <a:r>
              <a:rPr sz="1250">
                <a:solidFill>
                  <a:srgbClr val="1C1C1C"/>
                </a:solidFill>
                <a:latin typeface="Calibri"/>
              </a:rPr>
              <a:t>▸  PEMS04: 307 sensors, SF Bay Area freeways</a:t>
            </a:r>
          </a:p>
          <a:p>
            <a:pPr>
              <a:spcBef>
                <a:spcPts val="300"/>
              </a:spcBef>
            </a:pPr>
            <a:r>
              <a:rPr sz="1250">
                <a:solidFill>
                  <a:srgbClr val="1C1C1C"/>
                </a:solidFill>
                <a:latin typeface="Calibri"/>
              </a:rPr>
              <a:t>▸  Realistic deployments: only 20–60% observed</a:t>
            </a:r>
          </a:p>
          <a:p>
            <a:pPr>
              <a:spcBef>
                <a:spcPts val="300"/>
              </a:spcBef>
            </a:pPr>
            <a:r>
              <a:rPr sz="1250">
                <a:solidFill>
                  <a:srgbClr val="1C1C1C"/>
                </a:solidFill>
                <a:latin typeface="Calibri"/>
              </a:rPr>
              <a:t>▸  This work: 80% sensors missing</a:t>
            </a:r>
          </a:p>
          <a:p>
            <a:pPr>
              <a:spcBef>
                <a:spcPts val="300"/>
              </a:spcBef>
            </a:pPr>
            <a:r>
              <a:rPr sz="1250">
                <a:solidFill>
                  <a:srgbClr val="1C1C1C"/>
                </a:solidFill>
                <a:latin typeface="Calibri"/>
              </a:rPr>
              <a:t>▸  ~246 blind nodes must be inferred</a:t>
            </a:r>
          </a:p>
        </p:txBody>
      </p:sp>
      <p:sp>
        <p:nvSpPr>
          <p:cNvPr id="15" name="Rectangle 14"/>
          <p:cNvSpPr/>
          <p:nvPr/>
        </p:nvSpPr>
        <p:spPr>
          <a:xfrm>
            <a:off x="8092440" y="1554480"/>
            <a:ext cx="3749039" cy="4206240"/>
          </a:xfrm>
          <a:prstGeom prst="rect">
            <a:avLst/>
          </a:prstGeom>
          <a:solidFill>
            <a:srgbClr val="FFF3E0"/>
          </a:solidFill>
          <a:ln w="6350">
            <a:solidFill>
              <a:srgbClr val="C5D6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229600" y="1664208"/>
            <a:ext cx="3474719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1B2A4A"/>
                </a:solidFill>
                <a:latin typeface="Calibri"/>
              </a:rPr>
              <a:t>The Impact</a:t>
            </a:r>
          </a:p>
        </p:txBody>
      </p:sp>
      <p:sp>
        <p:nvSpPr>
          <p:cNvPr id="17" name="Rectangle 16"/>
          <p:cNvSpPr/>
          <p:nvPr/>
        </p:nvSpPr>
        <p:spPr>
          <a:xfrm>
            <a:off x="8229600" y="2048256"/>
            <a:ext cx="3474719" cy="18288"/>
          </a:xfrm>
          <a:prstGeom prst="rect">
            <a:avLst/>
          </a:prstGeom>
          <a:solidFill>
            <a:srgbClr val="2E6F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257032" y="2121408"/>
            <a:ext cx="3419855" cy="3474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300"/>
              </a:spcBef>
            </a:pPr>
            <a:r>
              <a:rPr sz="1250">
                <a:solidFill>
                  <a:srgbClr val="1C1C1C"/>
                </a:solidFill>
                <a:latin typeface="Calibri"/>
              </a:rPr>
              <a:t>▸  Missing speeds block: route planning</a:t>
            </a:r>
          </a:p>
          <a:p>
            <a:pPr>
              <a:spcBef>
                <a:spcPts val="300"/>
              </a:spcBef>
            </a:pPr>
            <a:r>
              <a:rPr sz="1250">
                <a:solidFill>
                  <a:srgbClr val="1C1C1C"/>
                </a:solidFill>
                <a:latin typeface="Calibri"/>
              </a:rPr>
              <a:t>▸  Incident detection and response</a:t>
            </a:r>
          </a:p>
          <a:p>
            <a:pPr>
              <a:spcBef>
                <a:spcPts val="300"/>
              </a:spcBef>
            </a:pPr>
            <a:r>
              <a:rPr sz="1250">
                <a:solidFill>
                  <a:srgbClr val="1C1C1C"/>
                </a:solidFill>
                <a:latin typeface="Calibri"/>
              </a:rPr>
              <a:t>▸  Signal timing optimisation</a:t>
            </a:r>
          </a:p>
          <a:p>
            <a:pPr>
              <a:spcBef>
                <a:spcPts val="300"/>
              </a:spcBef>
            </a:pPr>
            <a:r>
              <a:rPr sz="1250">
                <a:solidFill>
                  <a:srgbClr val="1C1C1C"/>
                </a:solidFill>
                <a:latin typeface="Calibri"/>
              </a:rPr>
              <a:t>▸  Emissions modelling and policy</a:t>
            </a:r>
          </a:p>
        </p:txBody>
      </p:sp>
      <p:sp>
        <p:nvSpPr>
          <p:cNvPr id="19" name="Rectangle 18"/>
          <p:cNvSpPr/>
          <p:nvPr/>
        </p:nvSpPr>
        <p:spPr>
          <a:xfrm>
            <a:off x="0" y="6537960"/>
            <a:ext cx="12188952" cy="320040"/>
          </a:xfrm>
          <a:prstGeom prst="rect">
            <a:avLst/>
          </a:prstGeom>
          <a:solidFill>
            <a:srgbClr val="2E6F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1640312" y="6565392"/>
            <a:ext cx="4572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 i="0">
                <a:solidFill>
                  <a:srgbClr val="FFFFFF"/>
                </a:solidFill>
                <a:latin typeface="Calibri"/>
              </a:rPr>
              <a:t>2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274320" y="6565392"/>
            <a:ext cx="73152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FFFFFF"/>
                </a:solidFill>
                <a:latin typeface="Calibri"/>
              </a:rPr>
              <a:t>Hypergraph Neural ODEs for Sparse Traffic Imputation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594360"/>
          </a:xfrm>
          <a:prstGeom prst="rect">
            <a:avLst/>
          </a:prstGeom>
          <a:solidFill>
            <a:srgbClr val="1B2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74320" y="91440"/>
            <a:ext cx="11640312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 i="0">
                <a:solidFill>
                  <a:srgbClr val="FFFFFF"/>
                </a:solidFill>
                <a:latin typeface="Calibri"/>
              </a:rPr>
              <a:t>3</a:t>
            </a:r>
          </a:p>
        </p:txBody>
      </p:sp>
      <p:sp>
        <p:nvSpPr>
          <p:cNvPr id="4" name="Rectangle 3"/>
          <p:cNvSpPr/>
          <p:nvPr/>
        </p:nvSpPr>
        <p:spPr>
          <a:xfrm>
            <a:off x="274320" y="731520"/>
            <a:ext cx="64008" cy="502920"/>
          </a:xfrm>
          <a:prstGeom prst="rect">
            <a:avLst/>
          </a:prstGeom>
          <a:solidFill>
            <a:srgbClr val="2E6F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02920" y="685800"/>
            <a:ext cx="11274552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 i="0">
                <a:solidFill>
                  <a:srgbClr val="1B2A4A"/>
                </a:solidFill>
                <a:latin typeface="Calibri"/>
              </a:rPr>
              <a:t>Imputation vs Forecasting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1207008"/>
            <a:ext cx="11274552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1">
                <a:solidFill>
                  <a:srgbClr val="555555"/>
                </a:solidFill>
                <a:latin typeface="Calibri"/>
              </a:rPr>
              <a:t>This task is harder than standard traffic prediction</a:t>
            </a:r>
          </a:p>
        </p:txBody>
      </p:sp>
      <p:sp>
        <p:nvSpPr>
          <p:cNvPr id="7" name="Rectangle 6"/>
          <p:cNvSpPr/>
          <p:nvPr/>
        </p:nvSpPr>
        <p:spPr>
          <a:xfrm>
            <a:off x="320040" y="1554480"/>
            <a:ext cx="5394960" cy="3200400"/>
          </a:xfrm>
          <a:prstGeom prst="rect">
            <a:avLst/>
          </a:prstGeom>
          <a:solidFill>
            <a:srgbClr val="EBF1FA"/>
          </a:solidFill>
          <a:ln w="6350">
            <a:solidFill>
              <a:srgbClr val="C5D6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1664208"/>
            <a:ext cx="51206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1B2A4A"/>
                </a:solidFill>
                <a:latin typeface="Calibri"/>
              </a:rPr>
              <a:t>Traffic Forecasting (Existing Work)</a:t>
            </a:r>
          </a:p>
        </p:txBody>
      </p:sp>
      <p:sp>
        <p:nvSpPr>
          <p:cNvPr id="9" name="Rectangle 8"/>
          <p:cNvSpPr/>
          <p:nvPr/>
        </p:nvSpPr>
        <p:spPr>
          <a:xfrm>
            <a:off x="457200" y="2048256"/>
            <a:ext cx="5120640" cy="18288"/>
          </a:xfrm>
          <a:prstGeom prst="rect">
            <a:avLst/>
          </a:prstGeom>
          <a:solidFill>
            <a:srgbClr val="2E6F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84632" y="2121408"/>
            <a:ext cx="5065776" cy="2468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300"/>
              </a:spcBef>
            </a:pPr>
            <a:r>
              <a:rPr sz="1250">
                <a:solidFill>
                  <a:srgbClr val="1C1C1C"/>
                </a:solidFill>
                <a:latin typeface="Calibri"/>
              </a:rPr>
              <a:t>▸  All sensors are observed</a:t>
            </a:r>
          </a:p>
          <a:p>
            <a:pPr>
              <a:spcBef>
                <a:spcPts val="300"/>
              </a:spcBef>
            </a:pPr>
            <a:r>
              <a:rPr sz="1250">
                <a:solidFill>
                  <a:srgbClr val="1C1C1C"/>
                </a:solidFill>
                <a:latin typeface="Calibri"/>
              </a:rPr>
              <a:t>▸  Predict future values</a:t>
            </a:r>
          </a:p>
          <a:p>
            <a:pPr>
              <a:spcBef>
                <a:spcPts val="300"/>
              </a:spcBef>
            </a:pPr>
            <a:r>
              <a:rPr sz="1250">
                <a:solidFill>
                  <a:srgbClr val="1C1C1C"/>
                </a:solidFill>
                <a:latin typeface="Calibri"/>
              </a:rPr>
              <a:t>▸  Well-studied: DCRNN, STGCN, WaveNet</a:t>
            </a:r>
          </a:p>
          <a:p>
            <a:pPr>
              <a:spcBef>
                <a:spcPts val="300"/>
              </a:spcBef>
            </a:pPr>
            <a:r>
              <a:rPr sz="1250">
                <a:solidFill>
                  <a:srgbClr val="1C1C1C"/>
                </a:solidFill>
                <a:latin typeface="Calibri"/>
              </a:rPr>
              <a:t>▸  PEMS04 MAE ≈ 1.6 – 1.8 km/h</a:t>
            </a:r>
          </a:p>
          <a:p>
            <a:pPr>
              <a:spcBef>
                <a:spcPts val="300"/>
              </a:spcBef>
            </a:pPr>
            <a:r>
              <a:rPr sz="1250">
                <a:solidFill>
                  <a:srgbClr val="1C1C1C"/>
                </a:solidFill>
                <a:latin typeface="Calibri"/>
              </a:rPr>
              <a:t>▸  Single-horizon evaluation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035040" y="1554480"/>
            <a:ext cx="5852160" cy="3200400"/>
          </a:xfrm>
          <a:prstGeom prst="rect">
            <a:avLst/>
          </a:prstGeom>
          <a:solidFill>
            <a:srgbClr val="E8F0FF"/>
          </a:solidFill>
          <a:ln w="6350">
            <a:solidFill>
              <a:srgbClr val="C5D6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172200" y="1664208"/>
            <a:ext cx="55778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1B2A4A"/>
                </a:solidFill>
                <a:latin typeface="Calibri"/>
              </a:rPr>
              <a:t>Sparse Imputation (This Work)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172200" y="2048256"/>
            <a:ext cx="5577840" cy="18288"/>
          </a:xfrm>
          <a:prstGeom prst="rect">
            <a:avLst/>
          </a:prstGeom>
          <a:solidFill>
            <a:srgbClr val="2E6F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199632" y="2121408"/>
            <a:ext cx="5522976" cy="2468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300"/>
              </a:spcBef>
            </a:pPr>
            <a:r>
              <a:rPr sz="1250">
                <a:solidFill>
                  <a:srgbClr val="1C1C1C"/>
                </a:solidFill>
                <a:latin typeface="Calibri"/>
              </a:rPr>
              <a:t>▸  80% of sensors are MISSING</a:t>
            </a:r>
          </a:p>
          <a:p>
            <a:pPr>
              <a:spcBef>
                <a:spcPts val="300"/>
              </a:spcBef>
            </a:pPr>
            <a:r>
              <a:rPr sz="1250">
                <a:solidFill>
                  <a:srgbClr val="1C1C1C"/>
                </a:solidFill>
                <a:latin typeface="Calibri"/>
              </a:rPr>
              <a:t>▸  Recover present values, not future</a:t>
            </a:r>
          </a:p>
          <a:p>
            <a:pPr>
              <a:spcBef>
                <a:spcPts val="300"/>
              </a:spcBef>
            </a:pPr>
            <a:r>
              <a:rPr sz="1250">
                <a:solidFill>
                  <a:srgbClr val="1C1C1C"/>
                </a:solidFill>
                <a:latin typeface="Calibri"/>
              </a:rPr>
              <a:t>▸  Under-explored — no deep baseline</a:t>
            </a:r>
          </a:p>
          <a:p>
            <a:pPr>
              <a:spcBef>
                <a:spcPts val="300"/>
              </a:spcBef>
            </a:pPr>
            <a:r>
              <a:rPr sz="1250">
                <a:solidFill>
                  <a:srgbClr val="1C1C1C"/>
                </a:solidFill>
                <a:latin typeface="Calibri"/>
              </a:rPr>
              <a:t>▸  Jam MAE is the key metric</a:t>
            </a:r>
          </a:p>
          <a:p>
            <a:pPr>
              <a:spcBef>
                <a:spcPts val="300"/>
              </a:spcBef>
            </a:pPr>
            <a:r>
              <a:rPr sz="1250">
                <a:solidFill>
                  <a:srgbClr val="1C1C1C"/>
                </a:solidFill>
                <a:latin typeface="Calibri"/>
              </a:rPr>
              <a:t>▸  Sparsity sweep from 20% to 90%</a:t>
            </a:r>
          </a:p>
        </p:txBody>
      </p:sp>
      <p:sp>
        <p:nvSpPr>
          <p:cNvPr id="15" name="Rectangle 14"/>
          <p:cNvSpPr/>
          <p:nvPr/>
        </p:nvSpPr>
        <p:spPr>
          <a:xfrm>
            <a:off x="320040" y="4983480"/>
            <a:ext cx="11548872" cy="1097280"/>
          </a:xfrm>
          <a:prstGeom prst="rect">
            <a:avLst/>
          </a:prstGeom>
          <a:solidFill>
            <a:srgbClr val="FFF8E1"/>
          </a:solidFill>
          <a:ln w="19050">
            <a:solidFill>
              <a:srgbClr val="E6A81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02920" y="5074920"/>
            <a:ext cx="11183112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1">
                <a:solidFill>
                  <a:srgbClr val="7B5B00"/>
                </a:solidFill>
                <a:latin typeface="Calibri"/>
              </a:rPr>
              <a:t>⚠  Key insight: A model that always predicts the global mean speed achieves 5.18 km/h overall MAE — but completely fails during congestion. Jam MAE (speed &lt; 40 km/h) is the meaningful metric for a real traffic system.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0" y="6537960"/>
            <a:ext cx="12188952" cy="320040"/>
          </a:xfrm>
          <a:prstGeom prst="rect">
            <a:avLst/>
          </a:prstGeom>
          <a:solidFill>
            <a:srgbClr val="2E6F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1640312" y="6565392"/>
            <a:ext cx="4572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 i="0">
                <a:solidFill>
                  <a:srgbClr val="FFFFFF"/>
                </a:solidFill>
                <a:latin typeface="Calibri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74320" y="6565392"/>
            <a:ext cx="73152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FFFFFF"/>
                </a:solidFill>
                <a:latin typeface="Calibri"/>
              </a:rPr>
              <a:t>Hypergraph Neural ODEs for Sparse Traffic Imputation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594360"/>
          </a:xfrm>
          <a:prstGeom prst="rect">
            <a:avLst/>
          </a:prstGeom>
          <a:solidFill>
            <a:srgbClr val="1B2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74320" y="91440"/>
            <a:ext cx="11640312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 i="0">
                <a:solidFill>
                  <a:srgbClr val="FFFFFF"/>
                </a:solidFill>
                <a:latin typeface="Calibri"/>
              </a:rPr>
              <a:t>4</a:t>
            </a:r>
          </a:p>
        </p:txBody>
      </p:sp>
      <p:sp>
        <p:nvSpPr>
          <p:cNvPr id="4" name="Rectangle 3"/>
          <p:cNvSpPr/>
          <p:nvPr/>
        </p:nvSpPr>
        <p:spPr>
          <a:xfrm>
            <a:off x="274320" y="731520"/>
            <a:ext cx="64008" cy="502920"/>
          </a:xfrm>
          <a:prstGeom prst="rect">
            <a:avLst/>
          </a:prstGeom>
          <a:solidFill>
            <a:srgbClr val="2E6F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02920" y="685800"/>
            <a:ext cx="11274552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 i="0">
                <a:solidFill>
                  <a:srgbClr val="1B2A4A"/>
                </a:solidFill>
                <a:latin typeface="Calibri"/>
              </a:rPr>
              <a:t>Dataset &amp; Setup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1207008"/>
            <a:ext cx="11274552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1">
                <a:solidFill>
                  <a:srgbClr val="555555"/>
                </a:solidFill>
                <a:latin typeface="Calibri"/>
              </a:rPr>
              <a:t>PEMS04 · 80% Sensor Sparsity · 6-Feature Input</a:t>
            </a:r>
          </a:p>
        </p:txBody>
      </p:sp>
      <p:sp>
        <p:nvSpPr>
          <p:cNvPr id="7" name="Rectangle 6"/>
          <p:cNvSpPr/>
          <p:nvPr/>
        </p:nvSpPr>
        <p:spPr>
          <a:xfrm>
            <a:off x="320040" y="1554480"/>
            <a:ext cx="3383280" cy="2011680"/>
          </a:xfrm>
          <a:prstGeom prst="rect">
            <a:avLst/>
          </a:prstGeom>
          <a:solidFill>
            <a:srgbClr val="FFFFFF"/>
          </a:solidFill>
          <a:ln w="19050">
            <a:solidFill>
              <a:srgbClr val="2E6F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320040" y="1554480"/>
            <a:ext cx="3383280" cy="54864"/>
          </a:xfrm>
          <a:prstGeom prst="rect">
            <a:avLst/>
          </a:prstGeom>
          <a:solidFill>
            <a:srgbClr val="2E6F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29768" y="1664208"/>
            <a:ext cx="3163824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2E6FD9"/>
                </a:solidFill>
                <a:latin typeface="Calibri"/>
              </a:rPr>
              <a:t>DATASET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29768" y="1993392"/>
            <a:ext cx="3163824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 i="0">
                <a:solidFill>
                  <a:srgbClr val="1B2A4A"/>
                </a:solidFill>
                <a:latin typeface="Calibri"/>
              </a:rPr>
              <a:t>PEMS04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29768" y="2468880"/>
            <a:ext cx="3163824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 i="0">
                <a:solidFill>
                  <a:srgbClr val="555555"/>
                </a:solidFill>
                <a:latin typeface="Calibri"/>
              </a:rPr>
              <a:t>307 sensors · SF Bay Area
5-min intervals · 17 days
Speed channel only</a:t>
            </a:r>
          </a:p>
        </p:txBody>
      </p:sp>
      <p:sp>
        <p:nvSpPr>
          <p:cNvPr id="12" name="Rectangle 11"/>
          <p:cNvSpPr/>
          <p:nvPr/>
        </p:nvSpPr>
        <p:spPr>
          <a:xfrm>
            <a:off x="3931920" y="1554480"/>
            <a:ext cx="3383280" cy="2011680"/>
          </a:xfrm>
          <a:prstGeom prst="rect">
            <a:avLst/>
          </a:prstGeom>
          <a:solidFill>
            <a:srgbClr val="FFFFFF"/>
          </a:solidFill>
          <a:ln w="19050">
            <a:solidFill>
              <a:srgbClr val="1E8B4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3931920" y="1554480"/>
            <a:ext cx="3383280" cy="54864"/>
          </a:xfrm>
          <a:prstGeom prst="rect">
            <a:avLst/>
          </a:prstGeom>
          <a:solidFill>
            <a:srgbClr val="1E8B4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041648" y="1664208"/>
            <a:ext cx="3163824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1E8B4C"/>
                </a:solidFill>
                <a:latin typeface="Calibri"/>
              </a:rPr>
              <a:t>SPARSITY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041648" y="1993392"/>
            <a:ext cx="3163824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 i="0">
                <a:solidFill>
                  <a:srgbClr val="1B2A4A"/>
                </a:solidFill>
                <a:latin typeface="Calibri"/>
              </a:rPr>
              <a:t>80%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041648" y="2468880"/>
            <a:ext cx="3163824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 i="0">
                <a:solidFill>
                  <a:srgbClr val="555555"/>
                </a:solidFill>
                <a:latin typeface="Calibri"/>
              </a:rPr>
              <a:t>~246 blind nodes
~61 observed sensors
Fixed mask, seed=42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543800" y="1554480"/>
            <a:ext cx="4297680" cy="2011680"/>
          </a:xfrm>
          <a:prstGeom prst="rect">
            <a:avLst/>
          </a:prstGeom>
          <a:solidFill>
            <a:srgbClr val="FFFFFF"/>
          </a:solidFill>
          <a:ln w="19050">
            <a:solidFill>
              <a:srgbClr val="E6A81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7543800" y="1554480"/>
            <a:ext cx="4297680" cy="54864"/>
          </a:xfrm>
          <a:prstGeom prst="rect">
            <a:avLst/>
          </a:prstGeom>
          <a:solidFill>
            <a:srgbClr val="E6A8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653528" y="1664208"/>
            <a:ext cx="4078224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E6A817"/>
                </a:solidFill>
                <a:latin typeface="Calibri"/>
              </a:rPr>
              <a:t>SPLIT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653528" y="1993392"/>
            <a:ext cx="4078224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 i="0">
                <a:solidFill>
                  <a:srgbClr val="1B2A4A"/>
                </a:solidFill>
                <a:latin typeface="Calibri"/>
              </a:rPr>
              <a:t>Train / Val / Eval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653528" y="2468880"/>
            <a:ext cx="4078224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 i="0">
                <a:solidFill>
                  <a:srgbClr val="555555"/>
                </a:solidFill>
                <a:latin typeface="Calibri"/>
              </a:rPr>
              <a:t>Train: t = 0 – 3999
Val: t = 4000 – 4239
Eval: t = 4500 – 4949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20040" y="3749039"/>
            <a:ext cx="11548872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1B2A4A"/>
                </a:solidFill>
                <a:latin typeface="Calibri"/>
              </a:rPr>
              <a:t>6-Feature Input (per node, per timestep — no GT leakage)</a:t>
            </a:r>
          </a:p>
        </p:txBody>
      </p:sp>
      <p:graphicFrame>
        <p:nvGraphicFramePr>
          <p:cNvPr id="23" name="Table 22"/>
          <p:cNvGraphicFramePr>
            <a:graphicFrameLocks noGrp="1"/>
          </p:cNvGraphicFramePr>
          <p:nvPr/>
        </p:nvGraphicFramePr>
        <p:xfrm>
          <a:off x="320040" y="4160520"/>
          <a:ext cx="11430000" cy="230428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57200"/>
                <a:gridCol w="1828800"/>
                <a:gridCol w="5943600"/>
                <a:gridCol w="3200400"/>
              </a:tblGrid>
              <a:tr h="384048">
                <a:tc>
                  <a:txBody>
                    <a:bodyPr/>
                    <a:lstStyle/>
                    <a:p>
                      <a:pPr algn="ctr"/>
                      <a:r>
                        <a:rPr b="1" sz="1100">
                          <a:solidFill>
                            <a:srgbClr val="FFFFFF"/>
                          </a:solidFill>
                          <a:latin typeface="Calibri"/>
                        </a:rPr>
                        <a:t>#</a:t>
                      </a:r>
                    </a:p>
                  </a:txBody>
                  <a:tcPr>
                    <a:solidFill>
                      <a:srgbClr val="1B2A4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1" sz="1100">
                          <a:solidFill>
                            <a:srgbClr val="FFFFFF"/>
                          </a:solidFill>
                          <a:latin typeface="Calibri"/>
                        </a:rPr>
                        <a:t>Feature</a:t>
                      </a:r>
                    </a:p>
                  </a:txBody>
                  <a:tcPr>
                    <a:solidFill>
                      <a:srgbClr val="1B2A4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1" sz="1100">
                          <a:solidFill>
                            <a:srgbClr val="FFFFFF"/>
                          </a:solidFill>
                          <a:latin typeface="Calibri"/>
                        </a:rPr>
                        <a:t>Description</a:t>
                      </a:r>
                    </a:p>
                  </a:txBody>
                  <a:tcPr>
                    <a:solidFill>
                      <a:srgbClr val="1B2A4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1" sz="1100">
                          <a:solidFill>
                            <a:srgbClr val="FFFFFF"/>
                          </a:solidFill>
                          <a:latin typeface="Calibri"/>
                        </a:rPr>
                        <a:t>Blind Node Value</a:t>
                      </a:r>
                    </a:p>
                  </a:txBody>
                  <a:tcPr>
                    <a:solidFill>
                      <a:srgbClr val="1B2A4A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/>
                      <a:r>
                        <a:rPr b="0" sz="1100">
                          <a:solidFill>
                            <a:srgbClr val="1C1C1C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0" sz="1100">
                          <a:solidFill>
                            <a:srgbClr val="1C1C1C"/>
                          </a:solidFill>
                          <a:latin typeface="Calibri"/>
                        </a:rPr>
                        <a:t>obs_speed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0" sz="1100">
                          <a:solidFill>
                            <a:srgbClr val="1C1C1C"/>
                          </a:solidFill>
                          <a:latin typeface="Calibri"/>
                        </a:rPr>
                        <a:t>Observed sensor speed (normalised)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0" sz="1100">
                          <a:solidFill>
                            <a:srgbClr val="1C1C1C"/>
                          </a:solidFill>
                          <a:latin typeface="Calibri"/>
                        </a:rPr>
                        <a:t>0.0 (zeroed)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/>
                      <a:r>
                        <a:rPr b="0" sz="1100">
                          <a:solidFill>
                            <a:srgbClr val="1C1C1C"/>
                          </a:solidFill>
                          <a:latin typeface="Calibri"/>
                        </a:rPr>
                        <a:t>2</a:t>
                      </a:r>
                    </a:p>
                  </a:txBody>
                  <a:tcPr>
                    <a:solidFill>
                      <a:srgbClr val="EBF1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0" sz="1100">
                          <a:solidFill>
                            <a:srgbClr val="1C1C1C"/>
                          </a:solidFill>
                          <a:latin typeface="Calibri"/>
                        </a:rPr>
                        <a:t>global_ctx</a:t>
                      </a:r>
                    </a:p>
                  </a:txBody>
                  <a:tcPr>
                    <a:solidFill>
                      <a:srgbClr val="EBF1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0" sz="1100">
                          <a:solidFill>
                            <a:srgbClr val="1C1C1C"/>
                          </a:solidFill>
                          <a:latin typeface="Calibri"/>
                        </a:rPr>
                        <a:t>Mean of ALL observed nodes at time t</a:t>
                      </a:r>
                    </a:p>
                  </a:txBody>
                  <a:tcPr>
                    <a:solidFill>
                      <a:srgbClr val="EBF1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0" sz="1100">
                          <a:solidFill>
                            <a:srgbClr val="1C1C1C"/>
                          </a:solidFill>
                          <a:latin typeface="Calibri"/>
                        </a:rPr>
                        <a:t>Same as observed</a:t>
                      </a:r>
                    </a:p>
                  </a:txBody>
                  <a:tcPr>
                    <a:solidFill>
                      <a:srgbClr val="EBF1FA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/>
                      <a:r>
                        <a:rPr b="0" sz="1100">
                          <a:solidFill>
                            <a:srgbClr val="1C1C1C"/>
                          </a:solidFill>
                          <a:latin typeface="Calibri"/>
                        </a:rPr>
                        <a:t>3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0" sz="1100">
                          <a:solidFill>
                            <a:srgbClr val="1C1C1C"/>
                          </a:solidFill>
                          <a:latin typeface="Calibri"/>
                        </a:rPr>
                        <a:t>nbr_ctx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0" sz="1100">
                          <a:solidFill>
                            <a:srgbClr val="1C1C1C"/>
                          </a:solidFill>
                          <a:latin typeface="Calibri"/>
                        </a:rPr>
                        <a:t>Adj-weighted mean of observed neighbours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0" sz="1100">
                          <a:solidFill>
                            <a:srgbClr val="1C1C1C"/>
                          </a:solidFill>
                          <a:latin typeface="Calibri"/>
                        </a:rPr>
                        <a:t>0.0 if no obs nbr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/>
                      <a:r>
                        <a:rPr b="0" sz="1100">
                          <a:solidFill>
                            <a:srgbClr val="1C1C1C"/>
                          </a:solidFill>
                          <a:latin typeface="Calibri"/>
                        </a:rPr>
                        <a:t>4</a:t>
                      </a:r>
                    </a:p>
                  </a:txBody>
                  <a:tcPr>
                    <a:solidFill>
                      <a:srgbClr val="EBF1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0" sz="1100">
                          <a:solidFill>
                            <a:srgbClr val="1C1C1C"/>
                          </a:solidFill>
                          <a:latin typeface="Calibri"/>
                        </a:rPr>
                        <a:t>is_observed</a:t>
                      </a:r>
                    </a:p>
                  </a:txBody>
                  <a:tcPr>
                    <a:solidFill>
                      <a:srgbClr val="EBF1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0" sz="1100">
                          <a:solidFill>
                            <a:srgbClr val="1C1C1C"/>
                          </a:solidFill>
                          <a:latin typeface="Calibri"/>
                        </a:rPr>
                        <a:t>Binary sensor flag</a:t>
                      </a:r>
                    </a:p>
                  </a:txBody>
                  <a:tcPr>
                    <a:solidFill>
                      <a:srgbClr val="EBF1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0" sz="1100">
                          <a:solidFill>
                            <a:srgbClr val="1C1C1C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>
                    <a:solidFill>
                      <a:srgbClr val="EBF1FA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/>
                      <a:r>
                        <a:rPr b="0" sz="1100">
                          <a:solidFill>
                            <a:srgbClr val="1C1C1C"/>
                          </a:solidFill>
                          <a:latin typeface="Calibri"/>
                        </a:rPr>
                        <a:t>5–6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0" sz="1100">
                          <a:solidFill>
                            <a:srgbClr val="1C1C1C"/>
                          </a:solidFill>
                          <a:latin typeface="Calibri"/>
                        </a:rPr>
                        <a:t>t_sin / t_cos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0" sz="1100">
                          <a:solidFill>
                            <a:srgbClr val="1C1C1C"/>
                          </a:solidFill>
                          <a:latin typeface="Calibri"/>
                        </a:rPr>
                        <a:t>Time-of-day cyclic encoding (scaled ×0.25)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0" sz="1100">
                          <a:solidFill>
                            <a:srgbClr val="1C1C1C"/>
                          </a:solidFill>
                          <a:latin typeface="Calibri"/>
                        </a:rPr>
                        <a:t>Shared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24" name="Rectangle 23"/>
          <p:cNvSpPr/>
          <p:nvPr/>
        </p:nvSpPr>
        <p:spPr>
          <a:xfrm>
            <a:off x="0" y="6537960"/>
            <a:ext cx="12188952" cy="320040"/>
          </a:xfrm>
          <a:prstGeom prst="rect">
            <a:avLst/>
          </a:prstGeom>
          <a:solidFill>
            <a:srgbClr val="2E6F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1640312" y="6565392"/>
            <a:ext cx="4572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 i="0">
                <a:solidFill>
                  <a:srgbClr val="FFFFFF"/>
                </a:solidFill>
                <a:latin typeface="Calibri"/>
              </a:rPr>
              <a:t>4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274320" y="6565392"/>
            <a:ext cx="73152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FFFFFF"/>
                </a:solidFill>
                <a:latin typeface="Calibri"/>
              </a:rPr>
              <a:t>Hypergraph Neural ODEs for Sparse Traffic Imputation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594360"/>
          </a:xfrm>
          <a:prstGeom prst="rect">
            <a:avLst/>
          </a:prstGeom>
          <a:solidFill>
            <a:srgbClr val="1B2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74320" y="91440"/>
            <a:ext cx="11640312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 i="0">
                <a:solidFill>
                  <a:srgbClr val="FFFFFF"/>
                </a:solidFill>
                <a:latin typeface="Calibri"/>
              </a:rPr>
              <a:t>5</a:t>
            </a:r>
          </a:p>
        </p:txBody>
      </p:sp>
      <p:sp>
        <p:nvSpPr>
          <p:cNvPr id="4" name="Rectangle 3"/>
          <p:cNvSpPr/>
          <p:nvPr/>
        </p:nvSpPr>
        <p:spPr>
          <a:xfrm>
            <a:off x="274320" y="731520"/>
            <a:ext cx="64008" cy="502920"/>
          </a:xfrm>
          <a:prstGeom prst="rect">
            <a:avLst/>
          </a:prstGeom>
          <a:solidFill>
            <a:srgbClr val="2E6F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02920" y="685800"/>
            <a:ext cx="11274552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 i="0">
                <a:solidFill>
                  <a:srgbClr val="1B2A4A"/>
                </a:solidFill>
                <a:latin typeface="Calibri"/>
              </a:rPr>
              <a:t>Architecture Overview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1207008"/>
            <a:ext cx="11274552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1">
                <a:solidFill>
                  <a:srgbClr val="555555"/>
                </a:solidFill>
                <a:latin typeface="Calibri"/>
              </a:rPr>
              <a:t>Four components — one unified model</a:t>
            </a:r>
          </a:p>
        </p:txBody>
      </p:sp>
      <p:sp>
        <p:nvSpPr>
          <p:cNvPr id="7" name="Rectangle 6"/>
          <p:cNvSpPr/>
          <p:nvPr/>
        </p:nvSpPr>
        <p:spPr>
          <a:xfrm>
            <a:off x="320040" y="1508760"/>
            <a:ext cx="11548872" cy="4206240"/>
          </a:xfrm>
          <a:prstGeom prst="rect">
            <a:avLst/>
          </a:prstGeom>
          <a:solidFill>
            <a:srgbClr val="EBF1FA"/>
          </a:solidFill>
          <a:ln w="6350">
            <a:solidFill>
              <a:srgbClr val="C5D6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457200" y="2331720"/>
            <a:ext cx="2011680" cy="1463040"/>
          </a:xfrm>
          <a:prstGeom prst="rect">
            <a:avLst/>
          </a:prstGeom>
          <a:solidFill>
            <a:srgbClr val="1B2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30352" y="2423160"/>
            <a:ext cx="1865376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 i="0">
                <a:solidFill>
                  <a:srgbClr val="FFFFFF"/>
                </a:solidFill>
                <a:latin typeface="Calibri"/>
              </a:rPr>
              <a:t>Input Encoder</a:t>
            </a:r>
          </a:p>
        </p:txBody>
      </p:sp>
      <p:sp>
        <p:nvSpPr>
          <p:cNvPr id="10" name="Rectangle 9"/>
          <p:cNvSpPr/>
          <p:nvPr/>
        </p:nvSpPr>
        <p:spPr>
          <a:xfrm>
            <a:off x="530352" y="2898648"/>
            <a:ext cx="1865376" cy="1828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30352" y="2971800"/>
            <a:ext cx="1865376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50" b="0" i="1">
                <a:solidFill>
                  <a:srgbClr val="FFFFFF"/>
                </a:solidFill>
                <a:latin typeface="Calibri"/>
              </a:rPr>
              <a:t>Linear(6→64)
per node</a:t>
            </a:r>
          </a:p>
        </p:txBody>
      </p:sp>
      <p:sp>
        <p:nvSpPr>
          <p:cNvPr id="12" name="Rectangle 11"/>
          <p:cNvSpPr/>
          <p:nvPr/>
        </p:nvSpPr>
        <p:spPr>
          <a:xfrm>
            <a:off x="2724912" y="2331720"/>
            <a:ext cx="2011680" cy="1463040"/>
          </a:xfrm>
          <a:prstGeom prst="rect">
            <a:avLst/>
          </a:prstGeom>
          <a:solidFill>
            <a:srgbClr val="2E6F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2798064" y="2423160"/>
            <a:ext cx="1865376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 i="0">
                <a:solidFill>
                  <a:srgbClr val="FFFFFF"/>
                </a:solidFill>
                <a:latin typeface="Calibri"/>
              </a:rPr>
              <a:t>GAT ODE</a:t>
            </a:r>
          </a:p>
        </p:txBody>
      </p:sp>
      <p:sp>
        <p:nvSpPr>
          <p:cNvPr id="14" name="Rectangle 13"/>
          <p:cNvSpPr/>
          <p:nvPr/>
        </p:nvSpPr>
        <p:spPr>
          <a:xfrm>
            <a:off x="2798064" y="2898648"/>
            <a:ext cx="1865376" cy="1828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2798064" y="2971800"/>
            <a:ext cx="1865376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50" b="0" i="1">
                <a:solidFill>
                  <a:srgbClr val="FFFFFF"/>
                </a:solidFill>
                <a:latin typeface="Calibri"/>
              </a:rPr>
              <a:t>2× Graph Attention
+ Euler dt=0.3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505456" y="2880360"/>
            <a:ext cx="256032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1" i="0">
                <a:solidFill>
                  <a:srgbClr val="1B2A4A"/>
                </a:solidFill>
                <a:latin typeface="Calibri"/>
              </a:rPr>
              <a:t>→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992624" y="2331720"/>
            <a:ext cx="2011680" cy="1463040"/>
          </a:xfrm>
          <a:prstGeom prst="rect">
            <a:avLst/>
          </a:prstGeom>
          <a:solidFill>
            <a:srgbClr val="1E8B4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065776" y="2423160"/>
            <a:ext cx="1865376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 i="0">
                <a:solidFill>
                  <a:srgbClr val="FFFFFF"/>
                </a:solidFill>
                <a:latin typeface="Calibri"/>
              </a:rPr>
              <a:t>Hypergraph
Conv</a:t>
            </a:r>
          </a:p>
        </p:txBody>
      </p:sp>
      <p:sp>
        <p:nvSpPr>
          <p:cNvPr id="19" name="Rectangle 18"/>
          <p:cNvSpPr/>
          <p:nvPr/>
        </p:nvSpPr>
        <p:spPr>
          <a:xfrm>
            <a:off x="5065776" y="2898648"/>
            <a:ext cx="1865376" cy="1828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5065776" y="2971800"/>
            <a:ext cx="1865376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50" b="0" i="1">
                <a:solidFill>
                  <a:srgbClr val="FFFFFF"/>
                </a:solidFill>
                <a:latin typeface="Calibri"/>
              </a:rPr>
              <a:t>2-hop corridors
Gated fusion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773168" y="2880360"/>
            <a:ext cx="256032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1" i="0">
                <a:solidFill>
                  <a:srgbClr val="1B2A4A"/>
                </a:solidFill>
                <a:latin typeface="Calibri"/>
              </a:rPr>
              <a:t>→</a:t>
            </a:r>
          </a:p>
        </p:txBody>
      </p:sp>
      <p:sp>
        <p:nvSpPr>
          <p:cNvPr id="22" name="Rectangle 21"/>
          <p:cNvSpPr/>
          <p:nvPr/>
        </p:nvSpPr>
        <p:spPr>
          <a:xfrm>
            <a:off x="7260336" y="2331720"/>
            <a:ext cx="2011680" cy="1463040"/>
          </a:xfrm>
          <a:prstGeom prst="rect">
            <a:avLst/>
          </a:prstGeom>
          <a:solidFill>
            <a:srgbClr val="E6A8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7333488" y="2423160"/>
            <a:ext cx="1865376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 i="0">
                <a:solidFill>
                  <a:srgbClr val="FFFFFF"/>
                </a:solidFill>
                <a:latin typeface="Calibri"/>
              </a:rPr>
              <a:t>Assimilation</a:t>
            </a:r>
          </a:p>
        </p:txBody>
      </p:sp>
      <p:sp>
        <p:nvSpPr>
          <p:cNvPr id="24" name="Rectangle 23"/>
          <p:cNvSpPr/>
          <p:nvPr/>
        </p:nvSpPr>
        <p:spPr>
          <a:xfrm>
            <a:off x="7333488" y="2898648"/>
            <a:ext cx="1865376" cy="1828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7333488" y="2971800"/>
            <a:ext cx="1865376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50" b="0" i="1">
                <a:solidFill>
                  <a:srgbClr val="FFFFFF"/>
                </a:solidFill>
                <a:latin typeface="Calibri"/>
              </a:rPr>
              <a:t>Kalman-style gate
Sensor injection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040880" y="2880360"/>
            <a:ext cx="256032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1" i="0">
                <a:solidFill>
                  <a:srgbClr val="1B2A4A"/>
                </a:solidFill>
                <a:latin typeface="Calibri"/>
              </a:rPr>
              <a:t>→</a:t>
            </a:r>
          </a:p>
        </p:txBody>
      </p:sp>
      <p:sp>
        <p:nvSpPr>
          <p:cNvPr id="27" name="Rectangle 26"/>
          <p:cNvSpPr/>
          <p:nvPr/>
        </p:nvSpPr>
        <p:spPr>
          <a:xfrm>
            <a:off x="9528048" y="2331720"/>
            <a:ext cx="2011680" cy="1463040"/>
          </a:xfrm>
          <a:prstGeom prst="rect">
            <a:avLst/>
          </a:prstGeom>
          <a:solidFill>
            <a:srgbClr val="8E44A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9601200" y="2423160"/>
            <a:ext cx="1865376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 i="0">
                <a:solidFill>
                  <a:srgbClr val="FFFFFF"/>
                </a:solidFill>
                <a:latin typeface="Calibri"/>
              </a:rPr>
              <a:t>Decoder</a:t>
            </a:r>
          </a:p>
        </p:txBody>
      </p:sp>
      <p:sp>
        <p:nvSpPr>
          <p:cNvPr id="29" name="Rectangle 28"/>
          <p:cNvSpPr/>
          <p:nvPr/>
        </p:nvSpPr>
        <p:spPr>
          <a:xfrm>
            <a:off x="9601200" y="2898648"/>
            <a:ext cx="1865376" cy="1828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9601200" y="2971800"/>
            <a:ext cx="1865376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50" b="0" i="1">
                <a:solidFill>
                  <a:srgbClr val="FFFFFF"/>
                </a:solidFill>
                <a:latin typeface="Calibri"/>
              </a:rPr>
              <a:t>Linear(64→1)
Speed output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9308592" y="2880360"/>
            <a:ext cx="256032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1" i="0">
                <a:solidFill>
                  <a:srgbClr val="1B2A4A"/>
                </a:solidFill>
                <a:latin typeface="Calibri"/>
              </a:rPr>
              <a:t>→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411480" y="4096512"/>
            <a:ext cx="11365992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1C1C1C"/>
                </a:solidFill>
                <a:latin typeface="Calibri"/>
              </a:rPr>
              <a:t>▸  Input: [B, N, T, 6] — batch × nodes × timesteps × features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411480" y="4507992"/>
            <a:ext cx="11365992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1C1C1C"/>
                </a:solidFill>
                <a:latin typeface="Calibri"/>
              </a:rPr>
              <a:t>▸  Hidden state z ∈ ℝ^{N×64} evolves via: decode → Euler ODE step → assimilation → repeat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411480" y="4919472"/>
            <a:ext cx="11365992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1C1C1C"/>
                </a:solidFill>
                <a:latin typeface="Calibri"/>
              </a:rPr>
              <a:t>▸  Euler integration: z_{t+1} = z_t + 0.3 · f_θ(z_t)   |   Hypergraph gate: g = sigmoid(w), init w=−2</a:t>
            </a:r>
          </a:p>
        </p:txBody>
      </p:sp>
      <p:sp>
        <p:nvSpPr>
          <p:cNvPr id="35" name="Rectangle 34"/>
          <p:cNvSpPr/>
          <p:nvPr/>
        </p:nvSpPr>
        <p:spPr>
          <a:xfrm>
            <a:off x="0" y="6537960"/>
            <a:ext cx="12188952" cy="320040"/>
          </a:xfrm>
          <a:prstGeom prst="rect">
            <a:avLst/>
          </a:prstGeom>
          <a:solidFill>
            <a:srgbClr val="2E6F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11640312" y="6565392"/>
            <a:ext cx="4572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 i="0">
                <a:solidFill>
                  <a:srgbClr val="FFFFFF"/>
                </a:solidFill>
                <a:latin typeface="Calibri"/>
              </a:rPr>
              <a:t>5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274320" y="6565392"/>
            <a:ext cx="73152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FFFFFF"/>
                </a:solidFill>
                <a:latin typeface="Calibri"/>
              </a:rPr>
              <a:t>Hypergraph Neural ODEs for Sparse Traffic Imputation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594360"/>
          </a:xfrm>
          <a:prstGeom prst="rect">
            <a:avLst/>
          </a:prstGeom>
          <a:solidFill>
            <a:srgbClr val="1B2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74320" y="91440"/>
            <a:ext cx="11640312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 i="0">
                <a:solidFill>
                  <a:srgbClr val="FFFFFF"/>
                </a:solidFill>
                <a:latin typeface="Calibri"/>
              </a:rPr>
              <a:t>6</a:t>
            </a:r>
          </a:p>
        </p:txBody>
      </p:sp>
      <p:sp>
        <p:nvSpPr>
          <p:cNvPr id="4" name="Rectangle 3"/>
          <p:cNvSpPr/>
          <p:nvPr/>
        </p:nvSpPr>
        <p:spPr>
          <a:xfrm>
            <a:off x="274320" y="731520"/>
            <a:ext cx="64008" cy="502920"/>
          </a:xfrm>
          <a:prstGeom prst="rect">
            <a:avLst/>
          </a:prstGeom>
          <a:solidFill>
            <a:srgbClr val="2E6F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02920" y="685800"/>
            <a:ext cx="11274552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 i="0">
                <a:solidFill>
                  <a:srgbClr val="1B2A4A"/>
                </a:solidFill>
                <a:latin typeface="Calibri"/>
              </a:rPr>
              <a:t>Graph Attention Network (GAT)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1207008"/>
            <a:ext cx="11274552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1">
                <a:solidFill>
                  <a:srgbClr val="555555"/>
                </a:solidFill>
                <a:latin typeface="Calibri"/>
              </a:rPr>
              <a:t>Learn which neighbours matter — not just how close they are</a:t>
            </a:r>
          </a:p>
        </p:txBody>
      </p:sp>
      <p:sp>
        <p:nvSpPr>
          <p:cNvPr id="7" name="Rectangle 6"/>
          <p:cNvSpPr/>
          <p:nvPr/>
        </p:nvSpPr>
        <p:spPr>
          <a:xfrm>
            <a:off x="320040" y="1508760"/>
            <a:ext cx="5440680" cy="3749039"/>
          </a:xfrm>
          <a:prstGeom prst="rect">
            <a:avLst/>
          </a:prstGeom>
          <a:solidFill>
            <a:srgbClr val="EBF1FA"/>
          </a:solidFill>
          <a:ln w="6350">
            <a:solidFill>
              <a:srgbClr val="C5D6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1618488"/>
            <a:ext cx="51663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1B2A4A"/>
                </a:solidFill>
                <a:latin typeface="Calibri"/>
              </a:rPr>
              <a:t>Standard GCN — Fixed Weights</a:t>
            </a:r>
          </a:p>
        </p:txBody>
      </p:sp>
      <p:sp>
        <p:nvSpPr>
          <p:cNvPr id="9" name="Rectangle 8"/>
          <p:cNvSpPr/>
          <p:nvPr/>
        </p:nvSpPr>
        <p:spPr>
          <a:xfrm>
            <a:off x="457200" y="2002536"/>
            <a:ext cx="5166360" cy="18288"/>
          </a:xfrm>
          <a:prstGeom prst="rect">
            <a:avLst/>
          </a:prstGeom>
          <a:solidFill>
            <a:srgbClr val="2E6F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84632" y="2075688"/>
            <a:ext cx="5111496" cy="301751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300"/>
              </a:spcBef>
            </a:pPr>
            <a:r>
              <a:rPr sz="1250">
                <a:solidFill>
                  <a:srgbClr val="1C1C1C"/>
                </a:solidFill>
                <a:latin typeface="Calibri"/>
              </a:rPr>
              <a:t>▸  h_i = Σ_j  A_norm[i,j] × h_j</a:t>
            </a:r>
          </a:p>
          <a:p>
            <a:pPr>
              <a:spcBef>
                <a:spcPts val="300"/>
              </a:spcBef>
            </a:pPr>
            <a:r>
              <a:rPr sz="1250">
                <a:solidFill>
                  <a:srgbClr val="1C1C1C"/>
                </a:solidFill>
                <a:latin typeface="Calibri"/>
              </a:rPr>
              <a:t>▸  Weights fixed by road distance</a:t>
            </a:r>
          </a:p>
          <a:p>
            <a:pPr>
              <a:spcBef>
                <a:spcPts val="300"/>
              </a:spcBef>
            </a:pPr>
            <a:r>
              <a:rPr sz="1250">
                <a:solidFill>
                  <a:srgbClr val="1C1C1C"/>
                </a:solidFill>
                <a:latin typeface="Calibri"/>
              </a:rPr>
              <a:t>▸  Cannot adapt to congestion context</a:t>
            </a:r>
          </a:p>
          <a:p>
            <a:pPr>
              <a:spcBef>
                <a:spcPts val="300"/>
              </a:spcBef>
            </a:pPr>
            <a:r>
              <a:rPr sz="1250">
                <a:solidFill>
                  <a:srgbClr val="1C1C1C"/>
                </a:solidFill>
                <a:latin typeface="Calibri"/>
              </a:rPr>
              <a:t>▸  A congested close neighbour has same
influence as a free-flowing distant one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989320" y="1508760"/>
            <a:ext cx="5897880" cy="3749039"/>
          </a:xfrm>
          <a:prstGeom prst="rect">
            <a:avLst/>
          </a:prstGeom>
          <a:solidFill>
            <a:srgbClr val="E8F0FF"/>
          </a:solidFill>
          <a:ln w="6350">
            <a:solidFill>
              <a:srgbClr val="C5D6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126480" y="1618488"/>
            <a:ext cx="56235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1B2A4A"/>
                </a:solidFill>
                <a:latin typeface="Calibri"/>
              </a:rPr>
              <a:t>Our GAT — Learned Attention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126480" y="2002536"/>
            <a:ext cx="5623560" cy="18288"/>
          </a:xfrm>
          <a:prstGeom prst="rect">
            <a:avLst/>
          </a:prstGeom>
          <a:solidFill>
            <a:srgbClr val="2E6F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153912" y="2075688"/>
            <a:ext cx="5568696" cy="301751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300"/>
              </a:spcBef>
            </a:pPr>
            <a:r>
              <a:rPr sz="1250">
                <a:solidFill>
                  <a:srgbClr val="1C1C1C"/>
                </a:solidFill>
                <a:latin typeface="Calibri"/>
              </a:rPr>
              <a:t>▸  e_ij = LeakyReLU( a_src(Wh_i) + a_dst(Wh_j) )</a:t>
            </a:r>
          </a:p>
          <a:p>
            <a:pPr>
              <a:spcBef>
                <a:spcPts val="300"/>
              </a:spcBef>
            </a:pPr>
            <a:r>
              <a:rPr sz="1250">
                <a:solidFill>
                  <a:srgbClr val="1C1C1C"/>
                </a:solidFill>
                <a:latin typeface="Calibri"/>
              </a:rPr>
              <a:t>▸  α_ij = softmax( e_ij / τ=2 )  over road neighbours</a:t>
            </a:r>
          </a:p>
          <a:p>
            <a:pPr>
              <a:spcBef>
                <a:spcPts val="300"/>
              </a:spcBef>
            </a:pPr>
            <a:r>
              <a:rPr sz="1250">
                <a:solidFill>
                  <a:srgbClr val="1C1C1C"/>
                </a:solidFill>
                <a:latin typeface="Calibri"/>
              </a:rPr>
              <a:t>▸  h_i' = Σ_j  α_ij × Wh_j</a:t>
            </a:r>
          </a:p>
          <a:p>
            <a:pPr>
              <a:spcBef>
                <a:spcPts val="300"/>
              </a:spcBef>
            </a:pPr>
            <a:r>
              <a:rPr sz="1250">
                <a:solidFill>
                  <a:srgbClr val="1C1C1C"/>
                </a:solidFill>
                <a:latin typeface="Calibri"/>
              </a:rPr>
              <a:t>▸  Temperature τ=2 prevents single-neighbour
dominance → no oscillation after jams</a:t>
            </a:r>
          </a:p>
          <a:p>
            <a:pPr>
              <a:spcBef>
                <a:spcPts val="300"/>
              </a:spcBef>
            </a:pPr>
            <a:r>
              <a:rPr sz="1250">
                <a:solidFill>
                  <a:srgbClr val="1C1C1C"/>
                </a:solidFill>
                <a:latin typeface="Calibri"/>
              </a:rPr>
              <a:t>▸  Non-edges masked to −∞ → road topology enforced</a:t>
            </a:r>
          </a:p>
        </p:txBody>
      </p:sp>
      <p:sp>
        <p:nvSpPr>
          <p:cNvPr id="15" name="Rectangle 14"/>
          <p:cNvSpPr/>
          <p:nvPr/>
        </p:nvSpPr>
        <p:spPr>
          <a:xfrm>
            <a:off x="320040" y="5440680"/>
            <a:ext cx="11548872" cy="685800"/>
          </a:xfrm>
          <a:prstGeom prst="rect">
            <a:avLst/>
          </a:prstGeom>
          <a:solidFill>
            <a:srgbClr val="E8F5E9"/>
          </a:solidFill>
          <a:ln w="12700">
            <a:solidFill>
              <a:srgbClr val="1E8B4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02920" y="5486400"/>
            <a:ext cx="11183112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1A5C3A"/>
                </a:solidFill>
                <a:latin typeface="Calibri"/>
              </a:rPr>
              <a:t>Two stacked GAT layers inside the ODE function. Output is the derivative dz/dt — the Euler step z + 0.3·f(z) adds the residual. LayerNorm applied to the derivative only (not the sum), preserving ODE residual structure.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0" y="6537960"/>
            <a:ext cx="12188952" cy="320040"/>
          </a:xfrm>
          <a:prstGeom prst="rect">
            <a:avLst/>
          </a:prstGeom>
          <a:solidFill>
            <a:srgbClr val="2E6F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1640312" y="6565392"/>
            <a:ext cx="4572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 i="0">
                <a:solidFill>
                  <a:srgbClr val="FFFFFF"/>
                </a:solidFill>
                <a:latin typeface="Calibri"/>
              </a:rPr>
              <a:t>6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74320" y="6565392"/>
            <a:ext cx="73152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FFFFFF"/>
                </a:solidFill>
                <a:latin typeface="Calibri"/>
              </a:rPr>
              <a:t>Hypergraph Neural ODEs for Sparse Traffic Imputation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594360"/>
          </a:xfrm>
          <a:prstGeom prst="rect">
            <a:avLst/>
          </a:prstGeom>
          <a:solidFill>
            <a:srgbClr val="1B2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74320" y="91440"/>
            <a:ext cx="11640312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 i="0">
                <a:solidFill>
                  <a:srgbClr val="FFFFFF"/>
                </a:solidFill>
                <a:latin typeface="Calibri"/>
              </a:rPr>
              <a:t>7</a:t>
            </a:r>
          </a:p>
        </p:txBody>
      </p:sp>
      <p:sp>
        <p:nvSpPr>
          <p:cNvPr id="4" name="Rectangle 3"/>
          <p:cNvSpPr/>
          <p:nvPr/>
        </p:nvSpPr>
        <p:spPr>
          <a:xfrm>
            <a:off x="274320" y="731520"/>
            <a:ext cx="64008" cy="502920"/>
          </a:xfrm>
          <a:prstGeom prst="rect">
            <a:avLst/>
          </a:prstGeom>
          <a:solidFill>
            <a:srgbClr val="2E6F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02920" y="685800"/>
            <a:ext cx="11274552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 i="0">
                <a:solidFill>
                  <a:srgbClr val="1B2A4A"/>
                </a:solidFill>
                <a:latin typeface="Calibri"/>
              </a:rPr>
              <a:t>Hypergraph Convolution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1207008"/>
            <a:ext cx="11274552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1">
                <a:solidFill>
                  <a:srgbClr val="555555"/>
                </a:solidFill>
                <a:latin typeface="Calibri"/>
              </a:rPr>
              <a:t>Capture corridor-level group dynamics beyond pairwise edges</a:t>
            </a:r>
          </a:p>
        </p:txBody>
      </p:sp>
      <p:sp>
        <p:nvSpPr>
          <p:cNvPr id="7" name="Rectangle 6"/>
          <p:cNvSpPr/>
          <p:nvPr/>
        </p:nvSpPr>
        <p:spPr>
          <a:xfrm>
            <a:off x="320040" y="1508760"/>
            <a:ext cx="11521440" cy="1920240"/>
          </a:xfrm>
          <a:prstGeom prst="rect">
            <a:avLst/>
          </a:prstGeom>
          <a:solidFill>
            <a:srgbClr val="EBF1FA"/>
          </a:solidFill>
          <a:ln w="6350">
            <a:solidFill>
              <a:srgbClr val="C5D6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1618488"/>
            <a:ext cx="112471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1B2A4A"/>
                </a:solidFill>
                <a:latin typeface="Calibri"/>
              </a:rPr>
              <a:t>Why Hypergraph?</a:t>
            </a:r>
          </a:p>
        </p:txBody>
      </p:sp>
      <p:sp>
        <p:nvSpPr>
          <p:cNvPr id="9" name="Rectangle 8"/>
          <p:cNvSpPr/>
          <p:nvPr/>
        </p:nvSpPr>
        <p:spPr>
          <a:xfrm>
            <a:off x="457200" y="2002536"/>
            <a:ext cx="11247120" cy="18288"/>
          </a:xfrm>
          <a:prstGeom prst="rect">
            <a:avLst/>
          </a:prstGeom>
          <a:solidFill>
            <a:srgbClr val="2E6F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84632" y="2075688"/>
            <a:ext cx="11192256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300"/>
              </a:spcBef>
            </a:pPr>
            <a:r>
              <a:rPr sz="1250">
                <a:solidFill>
                  <a:srgbClr val="1C1C1C"/>
                </a:solidFill>
                <a:latin typeface="Calibri"/>
              </a:rPr>
              <a:t>▸  Standard edges: connect exactly 2 nodes (pairwise)</a:t>
            </a:r>
          </a:p>
          <a:p>
            <a:pPr>
              <a:spcBef>
                <a:spcPts val="300"/>
              </a:spcBef>
            </a:pPr>
            <a:r>
              <a:rPr sz="1250">
                <a:solidFill>
                  <a:srgbClr val="1C1C1C"/>
                </a:solidFill>
                <a:latin typeface="Calibri"/>
              </a:rPr>
              <a:t>▸  Hyperedge: connects a GROUP of nodes simultaneously</a:t>
            </a:r>
          </a:p>
          <a:p>
            <a:pPr>
              <a:spcBef>
                <a:spcPts val="300"/>
              </a:spcBef>
            </a:pPr>
            <a:r>
              <a:rPr sz="1250">
                <a:solidFill>
                  <a:srgbClr val="1C1C1C"/>
                </a:solidFill>
                <a:latin typeface="Calibri"/>
              </a:rPr>
              <a:t>▸  A freeway corridor {s₁, s₂, s₃, s₄, s₅} is naturally a hyperedge</a:t>
            </a:r>
          </a:p>
          <a:p>
            <a:pPr>
              <a:spcBef>
                <a:spcPts val="300"/>
              </a:spcBef>
            </a:pPr>
            <a:r>
              <a:rPr sz="1250">
                <a:solidFill>
                  <a:srgbClr val="1C1C1C"/>
                </a:solidFill>
                <a:latin typeface="Calibri"/>
              </a:rPr>
              <a:t>▸  The HGNN sees the whole corridor's state at once — not one hop at a time</a:t>
            </a:r>
          </a:p>
        </p:txBody>
      </p:sp>
      <p:sp>
        <p:nvSpPr>
          <p:cNvPr id="11" name="Rectangle 10"/>
          <p:cNvSpPr/>
          <p:nvPr/>
        </p:nvSpPr>
        <p:spPr>
          <a:xfrm>
            <a:off x="320040" y="3566160"/>
            <a:ext cx="7040880" cy="2377440"/>
          </a:xfrm>
          <a:prstGeom prst="rect">
            <a:avLst/>
          </a:prstGeom>
          <a:solidFill>
            <a:srgbClr val="E8F0FF"/>
          </a:solidFill>
          <a:ln w="6350">
            <a:solidFill>
              <a:srgbClr val="C5D6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57200" y="3675888"/>
            <a:ext cx="67665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1B2A4A"/>
                </a:solidFill>
                <a:latin typeface="Calibri"/>
              </a:rPr>
              <a:t>Construction &amp; Convolution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57200" y="4059936"/>
            <a:ext cx="6766560" cy="18288"/>
          </a:xfrm>
          <a:prstGeom prst="rect">
            <a:avLst/>
          </a:prstGeom>
          <a:solidFill>
            <a:srgbClr val="2E6F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84632" y="4133088"/>
            <a:ext cx="6711696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300"/>
              </a:spcBef>
            </a:pPr>
            <a:r>
              <a:rPr sz="1250">
                <a:solidFill>
                  <a:srgbClr val="1C1C1C"/>
                </a:solidFill>
                <a:latin typeface="Calibri"/>
              </a:rPr>
              <a:t>▸  Hyperedge for node i = i ∪ {all 2-hop reachable sensors}</a:t>
            </a:r>
          </a:p>
          <a:p>
            <a:pPr>
              <a:spcBef>
                <a:spcPts val="300"/>
              </a:spcBef>
            </a:pPr>
            <a:r>
              <a:rPr sz="1250">
                <a:solidFill>
                  <a:srgbClr val="1C1C1C"/>
                </a:solidFill>
                <a:latin typeface="Calibri"/>
              </a:rPr>
              <a:t>▸  Incidence matrix H: H[v,e] = 1 if node v ∈ hyperedge e</a:t>
            </a:r>
          </a:p>
          <a:p>
            <a:pPr>
              <a:spcBef>
                <a:spcPts val="300"/>
              </a:spcBef>
            </a:pPr>
            <a:r>
              <a:rPr sz="1250">
                <a:solidFill>
                  <a:srgbClr val="1C1C1C"/>
                </a:solidFill>
                <a:latin typeface="Calibri"/>
              </a:rPr>
              <a:t>▸  Normalised operator: H_conv = D_v^{−½} H D_e^{−1} H^T D_v^{−½}  (pre-computed once)</a:t>
            </a:r>
          </a:p>
          <a:p>
            <a:pPr>
              <a:spcBef>
                <a:spcPts val="300"/>
              </a:spcBef>
            </a:pPr>
            <a:r>
              <a:rPr sz="1250">
                <a:solidFill>
                  <a:srgbClr val="1C1C1C"/>
                </a:solidFill>
                <a:latin typeface="Calibri"/>
              </a:rPr>
              <a:t>▸  Runtime: h_hyp = H_conv · (x · Θ)   — single matmul, very fast</a:t>
            </a:r>
          </a:p>
        </p:txBody>
      </p:sp>
      <p:sp>
        <p:nvSpPr>
          <p:cNvPr id="15" name="Rectangle 14"/>
          <p:cNvSpPr/>
          <p:nvPr/>
        </p:nvSpPr>
        <p:spPr>
          <a:xfrm>
            <a:off x="7498079" y="3566160"/>
            <a:ext cx="4343400" cy="2377440"/>
          </a:xfrm>
          <a:prstGeom prst="rect">
            <a:avLst/>
          </a:prstGeom>
          <a:solidFill>
            <a:srgbClr val="FFF8E1"/>
          </a:solidFill>
          <a:ln w="6350">
            <a:solidFill>
              <a:srgbClr val="C5D6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635239" y="3675888"/>
            <a:ext cx="40690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1B2A4A"/>
                </a:solidFill>
                <a:latin typeface="Calibri"/>
              </a:rPr>
              <a:t>Learnable Gate (critical!)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635239" y="4059936"/>
            <a:ext cx="4069080" cy="18288"/>
          </a:xfrm>
          <a:prstGeom prst="rect">
            <a:avLst/>
          </a:prstGeom>
          <a:solidFill>
            <a:srgbClr val="2E6F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662671" y="4133088"/>
            <a:ext cx="4014216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300"/>
              </a:spcBef>
            </a:pPr>
            <a:r>
              <a:rPr sz="1250">
                <a:solidFill>
                  <a:srgbClr val="1C1C1C"/>
                </a:solidFill>
                <a:latin typeface="Calibri"/>
              </a:rPr>
              <a:t>▸  g = sigmoid(w),  init: w = −2  →  g ≈ 0.12</a:t>
            </a:r>
          </a:p>
          <a:p>
            <a:pPr>
              <a:spcBef>
                <a:spcPts val="300"/>
              </a:spcBef>
            </a:pPr>
            <a:r>
              <a:rPr sz="1250">
                <a:solidFill>
                  <a:srgbClr val="1C1C1C"/>
                </a:solidFill>
                <a:latin typeface="Calibri"/>
              </a:rPr>
              <a:t>▸  h = h_GAT + g · h_hyp  (gated fusion)</a:t>
            </a:r>
          </a:p>
          <a:p>
            <a:pPr>
              <a:spcBef>
                <a:spcPts val="300"/>
              </a:spcBef>
            </a:pPr>
            <a:r>
              <a:rPr sz="1250">
                <a:solidFill>
                  <a:srgbClr val="1C1C1C"/>
                </a:solidFill>
                <a:latin typeface="Calibri"/>
              </a:rPr>
              <a:t>▸  Without gate: jam nodes average with ~20
free-flowing corridor members → over-smooth</a:t>
            </a:r>
          </a:p>
          <a:p>
            <a:pPr>
              <a:spcBef>
                <a:spcPts val="300"/>
              </a:spcBef>
            </a:pPr>
            <a:r>
              <a:rPr sz="1250">
                <a:solidFill>
                  <a:srgbClr val="1C1C1C"/>
                </a:solidFill>
                <a:latin typeface="Calibri"/>
              </a:rPr>
              <a:t>▸  Gate learns WHEN corridor context helps</a:t>
            </a:r>
          </a:p>
        </p:txBody>
      </p:sp>
      <p:sp>
        <p:nvSpPr>
          <p:cNvPr id="19" name="Rectangle 18"/>
          <p:cNvSpPr/>
          <p:nvPr/>
        </p:nvSpPr>
        <p:spPr>
          <a:xfrm>
            <a:off x="0" y="6537960"/>
            <a:ext cx="12188952" cy="320040"/>
          </a:xfrm>
          <a:prstGeom prst="rect">
            <a:avLst/>
          </a:prstGeom>
          <a:solidFill>
            <a:srgbClr val="2E6F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1640312" y="6565392"/>
            <a:ext cx="4572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 i="0">
                <a:solidFill>
                  <a:srgbClr val="FFFFFF"/>
                </a:solidFill>
                <a:latin typeface="Calibri"/>
              </a:rPr>
              <a:t>7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274320" y="6565392"/>
            <a:ext cx="73152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FFFFFF"/>
                </a:solidFill>
                <a:latin typeface="Calibri"/>
              </a:rPr>
              <a:t>Hypergraph Neural ODEs for Sparse Traffic Imputation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594360"/>
          </a:xfrm>
          <a:prstGeom prst="rect">
            <a:avLst/>
          </a:prstGeom>
          <a:solidFill>
            <a:srgbClr val="1B2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74320" y="91440"/>
            <a:ext cx="11640312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 i="0">
                <a:solidFill>
                  <a:srgbClr val="FFFFFF"/>
                </a:solidFill>
                <a:latin typeface="Calibri"/>
              </a:rPr>
              <a:t>8</a:t>
            </a:r>
          </a:p>
        </p:txBody>
      </p:sp>
      <p:sp>
        <p:nvSpPr>
          <p:cNvPr id="4" name="Rectangle 3"/>
          <p:cNvSpPr/>
          <p:nvPr/>
        </p:nvSpPr>
        <p:spPr>
          <a:xfrm>
            <a:off x="274320" y="731520"/>
            <a:ext cx="64008" cy="502920"/>
          </a:xfrm>
          <a:prstGeom prst="rect">
            <a:avLst/>
          </a:prstGeom>
          <a:solidFill>
            <a:srgbClr val="2E6F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02920" y="685800"/>
            <a:ext cx="11274552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 i="0">
                <a:solidFill>
                  <a:srgbClr val="1B2A4A"/>
                </a:solidFill>
                <a:latin typeface="Calibri"/>
              </a:rPr>
              <a:t>Observation Assimilation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1207008"/>
            <a:ext cx="11274552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1">
                <a:solidFill>
                  <a:srgbClr val="555555"/>
                </a:solidFill>
                <a:latin typeface="Calibri"/>
              </a:rPr>
              <a:t>Kalman-style sensor fusion after each ODE step</a:t>
            </a:r>
          </a:p>
        </p:txBody>
      </p:sp>
      <p:sp>
        <p:nvSpPr>
          <p:cNvPr id="7" name="Rectangle 6"/>
          <p:cNvSpPr/>
          <p:nvPr/>
        </p:nvSpPr>
        <p:spPr>
          <a:xfrm>
            <a:off x="320040" y="1508760"/>
            <a:ext cx="7040880" cy="2560320"/>
          </a:xfrm>
          <a:prstGeom prst="rect">
            <a:avLst/>
          </a:prstGeom>
          <a:solidFill>
            <a:srgbClr val="EBF1FA"/>
          </a:solidFill>
          <a:ln w="6350">
            <a:solidFill>
              <a:srgbClr val="C5D6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1618488"/>
            <a:ext cx="67665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1B2A4A"/>
                </a:solidFill>
                <a:latin typeface="Calibri"/>
              </a:rPr>
              <a:t>The Update Rule</a:t>
            </a:r>
          </a:p>
        </p:txBody>
      </p:sp>
      <p:sp>
        <p:nvSpPr>
          <p:cNvPr id="9" name="Rectangle 8"/>
          <p:cNvSpPr/>
          <p:nvPr/>
        </p:nvSpPr>
        <p:spPr>
          <a:xfrm>
            <a:off x="457200" y="2002536"/>
            <a:ext cx="6766560" cy="18288"/>
          </a:xfrm>
          <a:prstGeom prst="rect">
            <a:avLst/>
          </a:prstGeom>
          <a:solidFill>
            <a:srgbClr val="2E6F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84632" y="2075688"/>
            <a:ext cx="6711696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300"/>
              </a:spcBef>
            </a:pPr>
            <a:r>
              <a:rPr sz="1250">
                <a:solidFill>
                  <a:srgbClr val="1C1C1C"/>
                </a:solidFill>
                <a:latin typeface="Calibri"/>
              </a:rPr>
              <a:t>▸  z_obs  = W_obs · x_{t+1}            ← encode new sensor reading</a:t>
            </a:r>
          </a:p>
          <a:p>
            <a:pPr>
              <a:spcBef>
                <a:spcPts val="300"/>
              </a:spcBef>
            </a:pPr>
            <a:r>
              <a:rPr sz="1250">
                <a:solidFill>
                  <a:srgbClr val="1C1C1C"/>
                </a:solidFill>
                <a:latin typeface="Calibri"/>
              </a:rPr>
              <a:t>▸  gate   = σ( W_g [ z ; z_obs ] )     ← learned Kalman gain</a:t>
            </a:r>
          </a:p>
          <a:p>
            <a:pPr>
              <a:spcBef>
                <a:spcPts val="300"/>
              </a:spcBef>
            </a:pPr>
            <a:r>
              <a:rPr sz="1250">
                <a:solidFill>
                  <a:srgbClr val="1C1C1C"/>
                </a:solidFill>
                <a:latin typeface="Calibri"/>
              </a:rPr>
              <a:t>▸  update = gate  ×  (z_obs − z)  ×  obs_mask</a:t>
            </a:r>
          </a:p>
          <a:p>
            <a:pPr>
              <a:spcBef>
                <a:spcPts val="300"/>
              </a:spcBef>
            </a:pPr>
            <a:r>
              <a:rPr sz="1250">
                <a:solidFill>
                  <a:srgbClr val="1C1C1C"/>
                </a:solidFill>
                <a:latin typeface="Calibri"/>
              </a:rPr>
              <a:t>▸  z ← z + update                      ← corrected hidden state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498079" y="1508760"/>
            <a:ext cx="4343400" cy="2560320"/>
          </a:xfrm>
          <a:prstGeom prst="rect">
            <a:avLst/>
          </a:prstGeom>
          <a:solidFill>
            <a:srgbClr val="E8F0FF"/>
          </a:solidFill>
          <a:ln w="6350">
            <a:solidFill>
              <a:srgbClr val="C5D6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635239" y="1618488"/>
            <a:ext cx="40690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1B2A4A"/>
                </a:solidFill>
                <a:latin typeface="Calibri"/>
              </a:rPr>
              <a:t>Kalman Filter Analogy</a:t>
            </a:r>
          </a:p>
        </p:txBody>
      </p:sp>
      <p:sp>
        <p:nvSpPr>
          <p:cNvPr id="13" name="Rectangle 12"/>
          <p:cNvSpPr/>
          <p:nvPr/>
        </p:nvSpPr>
        <p:spPr>
          <a:xfrm>
            <a:off x="7635239" y="2002536"/>
            <a:ext cx="4069080" cy="18288"/>
          </a:xfrm>
          <a:prstGeom prst="rect">
            <a:avLst/>
          </a:prstGeom>
          <a:solidFill>
            <a:srgbClr val="2E6F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662671" y="2075688"/>
            <a:ext cx="4014216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300"/>
              </a:spcBef>
            </a:pPr>
            <a:r>
              <a:rPr sz="1250">
                <a:solidFill>
                  <a:srgbClr val="1C1C1C"/>
                </a:solidFill>
                <a:latin typeface="Calibri"/>
              </a:rPr>
              <a:t>▸  Kalman: z_pred = A·z  →  z_corr = z_pred + K·(obs − z_pred)</a:t>
            </a:r>
          </a:p>
          <a:p>
            <a:pPr>
              <a:spcBef>
                <a:spcPts val="300"/>
              </a:spcBef>
            </a:pPr>
            <a:r>
              <a:rPr sz="1250">
                <a:solidFill>
                  <a:srgbClr val="1C1C1C"/>
                </a:solidFill>
                <a:latin typeface="Calibri"/>
              </a:rPr>
              <a:t>▸  Ours:   ODE Euler step  →  z + gate·(z_obs − z)</a:t>
            </a:r>
          </a:p>
          <a:p>
            <a:pPr>
              <a:spcBef>
                <a:spcPts val="300"/>
              </a:spcBef>
            </a:pPr>
            <a:r>
              <a:rPr sz="1250">
                <a:solidFill>
                  <a:srgbClr val="1C1C1C"/>
                </a:solidFill>
                <a:latin typeface="Calibri"/>
              </a:rPr>
              <a:t>▸  Kalman gain K: fixed, computed from covariance matrix</a:t>
            </a:r>
          </a:p>
          <a:p>
            <a:pPr>
              <a:spcBef>
                <a:spcPts val="300"/>
              </a:spcBef>
            </a:pPr>
            <a:r>
              <a:rPr sz="1250">
                <a:solidFill>
                  <a:srgbClr val="1C1C1C"/>
                </a:solidFill>
                <a:latin typeface="Calibri"/>
              </a:rPr>
              <a:t>▸  Our gate: learned, adapts to non-linear traffic dynamics</a:t>
            </a:r>
          </a:p>
        </p:txBody>
      </p:sp>
      <p:sp>
        <p:nvSpPr>
          <p:cNvPr id="15" name="Rectangle 14"/>
          <p:cNvSpPr/>
          <p:nvPr/>
        </p:nvSpPr>
        <p:spPr>
          <a:xfrm>
            <a:off x="320040" y="4251960"/>
            <a:ext cx="11521440" cy="1828800"/>
          </a:xfrm>
          <a:prstGeom prst="rect">
            <a:avLst/>
          </a:prstGeom>
          <a:solidFill>
            <a:srgbClr val="FFEBEE"/>
          </a:solidFill>
          <a:ln w="6350">
            <a:solidFill>
              <a:srgbClr val="C5D6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57200" y="4361688"/>
            <a:ext cx="112471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1B2A4A"/>
                </a:solidFill>
                <a:latin typeface="Calibri"/>
              </a:rPr>
              <a:t>No Leakage — the Critical Detail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57200" y="4745736"/>
            <a:ext cx="11247120" cy="18288"/>
          </a:xfrm>
          <a:prstGeom prst="rect">
            <a:avLst/>
          </a:prstGeom>
          <a:solidFill>
            <a:srgbClr val="2E6F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84632" y="4818888"/>
            <a:ext cx="11192256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300"/>
              </a:spcBef>
            </a:pPr>
            <a:r>
              <a:rPr sz="1250">
                <a:solidFill>
                  <a:srgbClr val="1C1C1C"/>
                </a:solidFill>
                <a:latin typeface="Calibri"/>
              </a:rPr>
              <a:t>▸  obs_mask = 1 for observed sensors,  0 for blind nodes</a:t>
            </a:r>
          </a:p>
          <a:p>
            <a:pPr>
              <a:spcBef>
                <a:spcPts val="300"/>
              </a:spcBef>
            </a:pPr>
            <a:r>
              <a:rPr sz="1250">
                <a:solidFill>
                  <a:srgbClr val="1C1C1C"/>
                </a:solidFill>
                <a:latin typeface="Calibri"/>
              </a:rPr>
              <a:t>▸  update = ... × obs_mask  →  blind nodes get update = 0</a:t>
            </a:r>
          </a:p>
          <a:p>
            <a:pPr>
              <a:spcBef>
                <a:spcPts val="300"/>
              </a:spcBef>
            </a:pPr>
            <a:r>
              <a:rPr sz="1250">
                <a:solidFill>
                  <a:srgbClr val="1C1C1C"/>
                </a:solidFill>
                <a:latin typeface="Calibri"/>
              </a:rPr>
              <a:t>▸  Without this: blind nodes 'assimilate' their own zero observations</a:t>
            </a:r>
          </a:p>
          <a:p>
            <a:pPr>
              <a:spcBef>
                <a:spcPts val="300"/>
              </a:spcBef>
            </a:pPr>
            <a:r>
              <a:rPr sz="1250">
                <a:solidFill>
                  <a:srgbClr val="1C1C1C"/>
                </a:solidFill>
                <a:latin typeface="Calibri"/>
              </a:rPr>
              <a:t>▸  → hidden state pulled toward 0 every step regardless of ODE prediction</a:t>
            </a:r>
          </a:p>
        </p:txBody>
      </p:sp>
      <p:sp>
        <p:nvSpPr>
          <p:cNvPr id="19" name="Rectangle 18"/>
          <p:cNvSpPr/>
          <p:nvPr/>
        </p:nvSpPr>
        <p:spPr>
          <a:xfrm>
            <a:off x="0" y="6537960"/>
            <a:ext cx="12188952" cy="320040"/>
          </a:xfrm>
          <a:prstGeom prst="rect">
            <a:avLst/>
          </a:prstGeom>
          <a:solidFill>
            <a:srgbClr val="2E6F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1640312" y="6565392"/>
            <a:ext cx="4572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 i="0">
                <a:solidFill>
                  <a:srgbClr val="FFFFFF"/>
                </a:solidFill>
                <a:latin typeface="Calibri"/>
              </a:rPr>
              <a:t>8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274320" y="6565392"/>
            <a:ext cx="73152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FFFFFF"/>
                </a:solidFill>
                <a:latin typeface="Calibri"/>
              </a:rPr>
              <a:t>Hypergraph Neural ODEs for Sparse Traffic Imputation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594360"/>
          </a:xfrm>
          <a:prstGeom prst="rect">
            <a:avLst/>
          </a:prstGeom>
          <a:solidFill>
            <a:srgbClr val="1B2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74320" y="91440"/>
            <a:ext cx="11640312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 i="0">
                <a:solidFill>
                  <a:srgbClr val="FFFFFF"/>
                </a:solidFill>
                <a:latin typeface="Calibri"/>
              </a:rPr>
              <a:t>9</a:t>
            </a:r>
          </a:p>
        </p:txBody>
      </p:sp>
      <p:sp>
        <p:nvSpPr>
          <p:cNvPr id="4" name="Rectangle 3"/>
          <p:cNvSpPr/>
          <p:nvPr/>
        </p:nvSpPr>
        <p:spPr>
          <a:xfrm>
            <a:off x="274320" y="731520"/>
            <a:ext cx="64008" cy="502920"/>
          </a:xfrm>
          <a:prstGeom prst="rect">
            <a:avLst/>
          </a:prstGeom>
          <a:solidFill>
            <a:srgbClr val="2E6F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02920" y="685800"/>
            <a:ext cx="11274552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 i="0">
                <a:solidFill>
                  <a:srgbClr val="1B2A4A"/>
                </a:solidFill>
                <a:latin typeface="Calibri"/>
              </a:rPr>
              <a:t>Physics-Informed Training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1207008"/>
            <a:ext cx="11274552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1">
                <a:solidFill>
                  <a:srgbClr val="555555"/>
                </a:solidFill>
                <a:latin typeface="Calibri"/>
              </a:rPr>
              <a:t>Three loss terms — each solving a different failure mode</a:t>
            </a:r>
          </a:p>
        </p:txBody>
      </p:sp>
      <p:sp>
        <p:nvSpPr>
          <p:cNvPr id="7" name="Rectangle 6"/>
          <p:cNvSpPr/>
          <p:nvPr/>
        </p:nvSpPr>
        <p:spPr>
          <a:xfrm>
            <a:off x="320040" y="1508760"/>
            <a:ext cx="3794760" cy="4663440"/>
          </a:xfrm>
          <a:prstGeom prst="rect">
            <a:avLst/>
          </a:prstGeom>
          <a:solidFill>
            <a:srgbClr val="1B2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29768" y="1572768"/>
            <a:ext cx="3566160" cy="6217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 i="0">
                <a:solidFill>
                  <a:srgbClr val="FFFFFF"/>
                </a:solidFill>
                <a:latin typeface="Calibri"/>
              </a:rPr>
              <a:t>Term 1
Jam-Weighted MSE</a:t>
            </a:r>
          </a:p>
        </p:txBody>
      </p:sp>
      <p:sp>
        <p:nvSpPr>
          <p:cNvPr id="9" name="Rectangle 8"/>
          <p:cNvSpPr/>
          <p:nvPr/>
        </p:nvSpPr>
        <p:spPr>
          <a:xfrm>
            <a:off x="429768" y="2176272"/>
            <a:ext cx="3566160" cy="1828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57200" y="2267712"/>
            <a:ext cx="35204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  <a:latin typeface="Calibri"/>
              </a:rPr>
              <a:t>▸  L_obs = mean( ((ŝ−s)×mask)² × w 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7200" y="2724912"/>
            <a:ext cx="35204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  <a:latin typeface="Calibri"/>
              </a:rPr>
              <a:t>▸  w = 4 if speed &lt; 40 km/h  (jam)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57200" y="3182112"/>
            <a:ext cx="35204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  <a:latin typeface="Calibri"/>
              </a:rPr>
              <a:t>▸  w = 1 otherwise  (free-flow)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7200" y="3639312"/>
            <a:ext cx="35204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  <a:latin typeface="Calibri"/>
              </a:rPr>
              <a:t>▸  Compensates 12:1 free-flow:jam ratio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57200" y="4096512"/>
            <a:ext cx="35204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  <a:latin typeface="Calibri"/>
              </a:rPr>
              <a:t>▸  λ = 1.0  (primary loss)</a:t>
            </a:r>
          </a:p>
        </p:txBody>
      </p:sp>
      <p:sp>
        <p:nvSpPr>
          <p:cNvPr id="15" name="Rectangle 14"/>
          <p:cNvSpPr/>
          <p:nvPr/>
        </p:nvSpPr>
        <p:spPr>
          <a:xfrm>
            <a:off x="4297679" y="1508760"/>
            <a:ext cx="3794760" cy="4663440"/>
          </a:xfrm>
          <a:prstGeom prst="rect">
            <a:avLst/>
          </a:prstGeom>
          <a:solidFill>
            <a:srgbClr val="2E6F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407407" y="1572768"/>
            <a:ext cx="3566160" cy="6217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 i="0">
                <a:solidFill>
                  <a:srgbClr val="FFFFFF"/>
                </a:solidFill>
                <a:latin typeface="Calibri"/>
              </a:rPr>
              <a:t>Term 2
Temporal Smoothness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407407" y="2176272"/>
            <a:ext cx="3566160" cy="1828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434839" y="2267712"/>
            <a:ext cx="35204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  <a:latin typeface="Calibri"/>
              </a:rPr>
              <a:t>▸  L_smooth = mean( (ŝ_{t+1} − ŝ_t)² )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434839" y="2724912"/>
            <a:ext cx="35204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  <a:latin typeface="Calibri"/>
              </a:rPr>
              <a:t>▸  Penalises step-to-step jumps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434839" y="3182112"/>
            <a:ext cx="35204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  <a:latin typeface="Calibri"/>
              </a:rPr>
              <a:t>▸  Suppresses post-jam oscillation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434839" y="3639312"/>
            <a:ext cx="35204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  <a:latin typeface="Calibri"/>
              </a:rPr>
              <a:t>▸  (model alternates between jam/free-flow)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434839" y="4096512"/>
            <a:ext cx="35204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  <a:latin typeface="Calibri"/>
              </a:rPr>
              <a:t>▸  λ = 0.60  (strong regulariser)</a:t>
            </a:r>
          </a:p>
        </p:txBody>
      </p:sp>
      <p:sp>
        <p:nvSpPr>
          <p:cNvPr id="23" name="Rectangle 22"/>
          <p:cNvSpPr/>
          <p:nvPr/>
        </p:nvSpPr>
        <p:spPr>
          <a:xfrm>
            <a:off x="8275318" y="1508760"/>
            <a:ext cx="3794760" cy="4663440"/>
          </a:xfrm>
          <a:prstGeom prst="rect">
            <a:avLst/>
          </a:prstGeom>
          <a:solidFill>
            <a:srgbClr val="1E8B4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8385046" y="1572768"/>
            <a:ext cx="3566160" cy="6217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 i="0">
                <a:solidFill>
                  <a:srgbClr val="FFFFFF"/>
                </a:solidFill>
                <a:latin typeface="Calibri"/>
              </a:rPr>
              <a:t>Term 3
Laplacian Physics</a:t>
            </a:r>
          </a:p>
        </p:txBody>
      </p:sp>
      <p:sp>
        <p:nvSpPr>
          <p:cNvPr id="25" name="Rectangle 24"/>
          <p:cNvSpPr/>
          <p:nvPr/>
        </p:nvSpPr>
        <p:spPr>
          <a:xfrm>
            <a:off x="8385046" y="2176272"/>
            <a:ext cx="3566160" cy="1828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8412478" y="2267712"/>
            <a:ext cx="35204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  <a:latin typeface="Calibri"/>
              </a:rPr>
              <a:t>▸  L_phys = mean( ||L_sym · v||² )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412478" y="2724912"/>
            <a:ext cx="35204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  <a:latin typeface="Calibri"/>
              </a:rPr>
              <a:t>▸  = Σ_i  (v_i − mean_nbr(v_i))²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412478" y="3182112"/>
            <a:ext cx="35204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  <a:latin typeface="Calibri"/>
              </a:rPr>
              <a:t>▸  LWR principle: speed varies continuously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412478" y="3639312"/>
            <a:ext cx="35204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  <a:latin typeface="Calibri"/>
              </a:rPr>
              <a:t>▸  along road — no sharp spatial boundaries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8412478" y="4096512"/>
            <a:ext cx="35204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  <a:latin typeface="Calibri"/>
              </a:rPr>
              <a:t>▸  λ = 0.02  (soft constraint)</a:t>
            </a:r>
          </a:p>
        </p:txBody>
      </p:sp>
      <p:sp>
        <p:nvSpPr>
          <p:cNvPr id="31" name="Rectangle 30"/>
          <p:cNvSpPr/>
          <p:nvPr/>
        </p:nvSpPr>
        <p:spPr>
          <a:xfrm>
            <a:off x="0" y="6537960"/>
            <a:ext cx="12188952" cy="320040"/>
          </a:xfrm>
          <a:prstGeom prst="rect">
            <a:avLst/>
          </a:prstGeom>
          <a:solidFill>
            <a:srgbClr val="2E6F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11640312" y="6565392"/>
            <a:ext cx="4572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 i="0">
                <a:solidFill>
                  <a:srgbClr val="FFFFFF"/>
                </a:solidFill>
                <a:latin typeface="Calibri"/>
              </a:rPr>
              <a:t>9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274320" y="6565392"/>
            <a:ext cx="73152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FFFFFF"/>
                </a:solidFill>
                <a:latin typeface="Calibri"/>
              </a:rPr>
              <a:t>Hypergraph Neural ODEs for Sparse Traffic Imputation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594360"/>
          </a:xfrm>
          <a:prstGeom prst="rect">
            <a:avLst/>
          </a:prstGeom>
          <a:solidFill>
            <a:srgbClr val="1B2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74320" y="91440"/>
            <a:ext cx="11640312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 i="0">
                <a:solidFill>
                  <a:srgbClr val="FFFFFF"/>
                </a:solidFill>
                <a:latin typeface="Calibri"/>
              </a:rPr>
              <a:t>10</a:t>
            </a:r>
          </a:p>
        </p:txBody>
      </p:sp>
      <p:sp>
        <p:nvSpPr>
          <p:cNvPr id="4" name="Rectangle 3"/>
          <p:cNvSpPr/>
          <p:nvPr/>
        </p:nvSpPr>
        <p:spPr>
          <a:xfrm>
            <a:off x="274320" y="731520"/>
            <a:ext cx="64008" cy="502920"/>
          </a:xfrm>
          <a:prstGeom prst="rect">
            <a:avLst/>
          </a:prstGeom>
          <a:solidFill>
            <a:srgbClr val="2E6F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02920" y="685800"/>
            <a:ext cx="11274552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 i="0">
                <a:solidFill>
                  <a:srgbClr val="1B2A4A"/>
                </a:solidFill>
                <a:latin typeface="Calibri"/>
              </a:rPr>
              <a:t>Training Strategy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1207008"/>
            <a:ext cx="11274552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1">
                <a:solidFill>
                  <a:srgbClr val="555555"/>
                </a:solidFill>
                <a:latin typeface="Calibri"/>
              </a:rPr>
              <a:t>Three techniques to handle extreme class imbalance</a:t>
            </a:r>
          </a:p>
        </p:txBody>
      </p:sp>
      <p:sp>
        <p:nvSpPr>
          <p:cNvPr id="7" name="Rectangle 6"/>
          <p:cNvSpPr/>
          <p:nvPr/>
        </p:nvSpPr>
        <p:spPr>
          <a:xfrm>
            <a:off x="320040" y="1508760"/>
            <a:ext cx="3794760" cy="54864"/>
          </a:xfrm>
          <a:prstGeom prst="rect">
            <a:avLst/>
          </a:prstGeom>
          <a:solidFill>
            <a:srgbClr val="1E8B4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320040" y="1563624"/>
            <a:ext cx="3794760" cy="4572000"/>
          </a:xfrm>
          <a:prstGeom prst="rect">
            <a:avLst/>
          </a:prstGeom>
          <a:solidFill>
            <a:srgbClr val="EBF1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29768" y="1591056"/>
            <a:ext cx="356616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1E8B4C"/>
                </a:solidFill>
                <a:latin typeface="Calibri"/>
              </a:rPr>
              <a:t>Curriculum Masking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29768" y="2011680"/>
            <a:ext cx="35661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1">
                <a:solidFill>
                  <a:srgbClr val="555555"/>
                </a:solidFill>
                <a:latin typeface="Calibri"/>
              </a:rPr>
              <a:t>15% of observed sensors are randomly pseudo-blinded each batch.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29768" y="2487168"/>
            <a:ext cx="3566160" cy="13716"/>
          </a:xfrm>
          <a:prstGeom prst="rect">
            <a:avLst/>
          </a:prstGeom>
          <a:solidFill>
            <a:srgbClr val="1E8B4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57200" y="2542032"/>
            <a:ext cx="35204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 i="0">
                <a:solidFill>
                  <a:srgbClr val="1C1C1C"/>
                </a:solidFill>
                <a:latin typeface="Calibri"/>
              </a:rPr>
              <a:t>▸  Zeroes their speed, nbr_ctx, and is_observed features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7200" y="2999232"/>
            <a:ext cx="35204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 i="0">
                <a:solidFill>
                  <a:srgbClr val="1C1C1C"/>
                </a:solidFill>
                <a:latin typeface="Calibri"/>
              </a:rPr>
              <a:t>▸  Excludes from assimilation gate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57200" y="3456432"/>
            <a:ext cx="35204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 i="0">
                <a:solidFill>
                  <a:srgbClr val="1C1C1C"/>
                </a:solidFill>
                <a:latin typeface="Calibri"/>
              </a:rPr>
              <a:t>▸  Computes loss on their known ground truth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57200" y="3913632"/>
            <a:ext cx="35204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 i="0">
                <a:solidFill>
                  <a:srgbClr val="1C1C1C"/>
                </a:solidFill>
                <a:latin typeface="Calibri"/>
              </a:rPr>
              <a:t>▸  → Gradients always flow through the blind-node code path</a:t>
            </a:r>
          </a:p>
        </p:txBody>
      </p:sp>
      <p:sp>
        <p:nvSpPr>
          <p:cNvPr id="16" name="Rectangle 15"/>
          <p:cNvSpPr/>
          <p:nvPr/>
        </p:nvSpPr>
        <p:spPr>
          <a:xfrm>
            <a:off x="4297679" y="1508760"/>
            <a:ext cx="3794760" cy="54864"/>
          </a:xfrm>
          <a:prstGeom prst="rect">
            <a:avLst/>
          </a:prstGeom>
          <a:solidFill>
            <a:srgbClr val="2E6F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4297679" y="1563624"/>
            <a:ext cx="3794760" cy="4572000"/>
          </a:xfrm>
          <a:prstGeom prst="rect">
            <a:avLst/>
          </a:prstGeom>
          <a:solidFill>
            <a:srgbClr val="EBF1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407407" y="1591056"/>
            <a:ext cx="356616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2E6FD9"/>
                </a:solidFill>
                <a:latin typeface="Calibri"/>
              </a:rPr>
              <a:t>Jam-Biased Sampling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407407" y="2011680"/>
            <a:ext cx="35661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1">
                <a:solidFill>
                  <a:srgbClr val="555555"/>
                </a:solidFill>
                <a:latin typeface="Calibri"/>
              </a:rPr>
              <a:t>50% of batches are forced to start at jam timesteps.</a:t>
            </a:r>
          </a:p>
        </p:txBody>
      </p:sp>
      <p:sp>
        <p:nvSpPr>
          <p:cNvPr id="20" name="Rectangle 19"/>
          <p:cNvSpPr/>
          <p:nvPr/>
        </p:nvSpPr>
        <p:spPr>
          <a:xfrm>
            <a:off x="4407407" y="2487168"/>
            <a:ext cx="3566160" cy="13716"/>
          </a:xfrm>
          <a:prstGeom prst="rect">
            <a:avLst/>
          </a:prstGeom>
          <a:solidFill>
            <a:srgbClr val="2E6F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4434839" y="2542032"/>
            <a:ext cx="35204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 i="0">
                <a:solidFill>
                  <a:srgbClr val="1C1C1C"/>
                </a:solidFill>
                <a:latin typeface="Calibri"/>
              </a:rPr>
              <a:t>▸  Natural rate of jam windows: only ~8%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434839" y="2999232"/>
            <a:ext cx="35204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 i="0">
                <a:solidFill>
                  <a:srgbClr val="1C1C1C"/>
                </a:solidFill>
                <a:latin typeface="Calibri"/>
              </a:rPr>
              <a:t>▸  Even with 4× loss weight, variance is too high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434839" y="3456432"/>
            <a:ext cx="35204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 i="0">
                <a:solidFill>
                  <a:srgbClr val="1C1C1C"/>
                </a:solidFill>
                <a:latin typeface="Calibri"/>
              </a:rPr>
              <a:t>▸  Pre-computed jam_t_valid index for fast lookup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434839" y="3913632"/>
            <a:ext cx="35204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 i="0">
                <a:solidFill>
                  <a:srgbClr val="1C1C1C"/>
                </a:solidFill>
                <a:latin typeface="Calibri"/>
              </a:rPr>
              <a:t>▸  → Balanced gradient signal between jam and free-flow</a:t>
            </a:r>
          </a:p>
        </p:txBody>
      </p:sp>
      <p:sp>
        <p:nvSpPr>
          <p:cNvPr id="25" name="Rectangle 24"/>
          <p:cNvSpPr/>
          <p:nvPr/>
        </p:nvSpPr>
        <p:spPr>
          <a:xfrm>
            <a:off x="8275318" y="1508760"/>
            <a:ext cx="3794760" cy="54864"/>
          </a:xfrm>
          <a:prstGeom prst="rect">
            <a:avLst/>
          </a:prstGeom>
          <a:solidFill>
            <a:srgbClr val="1B2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8275318" y="1563624"/>
            <a:ext cx="3794760" cy="4572000"/>
          </a:xfrm>
          <a:prstGeom prst="rect">
            <a:avLst/>
          </a:prstGeom>
          <a:solidFill>
            <a:srgbClr val="EBF1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8385046" y="1591056"/>
            <a:ext cx="356616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1B2A4A"/>
                </a:solidFill>
                <a:latin typeface="Calibri"/>
              </a:rPr>
              <a:t>Gradient Accumulation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385046" y="2011680"/>
            <a:ext cx="35661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1">
                <a:solidFill>
                  <a:srgbClr val="555555"/>
                </a:solidFill>
                <a:latin typeface="Calibri"/>
              </a:rPr>
              <a:t>Gradients from 4 windows accumulated per parameter update.</a:t>
            </a:r>
          </a:p>
        </p:txBody>
      </p:sp>
      <p:sp>
        <p:nvSpPr>
          <p:cNvPr id="29" name="Rectangle 28"/>
          <p:cNvSpPr/>
          <p:nvPr/>
        </p:nvSpPr>
        <p:spPr>
          <a:xfrm>
            <a:off x="8385046" y="2487168"/>
            <a:ext cx="3566160" cy="13716"/>
          </a:xfrm>
          <a:prstGeom prst="rect">
            <a:avLst/>
          </a:prstGeom>
          <a:solidFill>
            <a:srgbClr val="1B2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8412478" y="2542032"/>
            <a:ext cx="35204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 i="0">
                <a:solidFill>
                  <a:srgbClr val="1C1C1C"/>
                </a:solidFill>
                <a:latin typeface="Calibri"/>
              </a:rPr>
              <a:t>▸  Jam batches: very high loss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412478" y="2999232"/>
            <a:ext cx="35204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 i="0">
                <a:solidFill>
                  <a:srgbClr val="1C1C1C"/>
                </a:solidFill>
                <a:latin typeface="Calibri"/>
              </a:rPr>
              <a:t>▸  Free-flow batches: very low loss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8412478" y="3456432"/>
            <a:ext cx="35204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 i="0">
                <a:solidFill>
                  <a:srgbClr val="1C1C1C"/>
                </a:solidFill>
                <a:latin typeface="Calibri"/>
              </a:rPr>
              <a:t>▸  High variance → oscillating validation MAE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8412478" y="3913632"/>
            <a:ext cx="35204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 i="0">
                <a:solidFill>
                  <a:srgbClr val="1C1C1C"/>
                </a:solidFill>
                <a:latin typeface="Calibri"/>
              </a:rPr>
              <a:t>▸  → 4-step accumulation smooths this variance</a:t>
            </a:r>
          </a:p>
        </p:txBody>
      </p:sp>
      <p:sp>
        <p:nvSpPr>
          <p:cNvPr id="34" name="Rectangle 33"/>
          <p:cNvSpPr/>
          <p:nvPr/>
        </p:nvSpPr>
        <p:spPr>
          <a:xfrm>
            <a:off x="320040" y="6236208"/>
            <a:ext cx="11548872" cy="347472"/>
          </a:xfrm>
          <a:prstGeom prst="rect">
            <a:avLst/>
          </a:prstGeom>
          <a:solidFill>
            <a:srgbClr val="1B2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457200" y="6281928"/>
            <a:ext cx="11274552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50" b="0" i="0">
                <a:solidFill>
                  <a:srgbClr val="FFFFFF"/>
                </a:solidFill>
                <a:latin typeface="Calibri"/>
              </a:rPr>
              <a:t>Adam lr=3×10⁻⁴  ·  weight decay=10⁻⁴  ·  Cosine Annealing T_max=400  ·  800 epochs  ·  Grad clip norm=1.0</a:t>
            </a:r>
          </a:p>
        </p:txBody>
      </p:sp>
      <p:sp>
        <p:nvSpPr>
          <p:cNvPr id="36" name="Rectangle 35"/>
          <p:cNvSpPr/>
          <p:nvPr/>
        </p:nvSpPr>
        <p:spPr>
          <a:xfrm>
            <a:off x="0" y="6537960"/>
            <a:ext cx="12188952" cy="320040"/>
          </a:xfrm>
          <a:prstGeom prst="rect">
            <a:avLst/>
          </a:prstGeom>
          <a:solidFill>
            <a:srgbClr val="2E6F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11640312" y="6565392"/>
            <a:ext cx="4572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 i="0">
                <a:solidFill>
                  <a:srgbClr val="FFFFFF"/>
                </a:solidFill>
                <a:latin typeface="Calibri"/>
              </a:rPr>
              <a:t>10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274320" y="6565392"/>
            <a:ext cx="73152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FFFFFF"/>
                </a:solidFill>
                <a:latin typeface="Calibri"/>
              </a:rPr>
              <a:t>Hypergraph Neural ODEs for Sparse Traffic Imputation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594360"/>
          </a:xfrm>
          <a:prstGeom prst="rect">
            <a:avLst/>
          </a:prstGeom>
          <a:solidFill>
            <a:srgbClr val="1B2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74320" y="91440"/>
            <a:ext cx="11640312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 i="0">
                <a:solidFill>
                  <a:srgbClr val="FFFFFF"/>
                </a:solidFill>
                <a:latin typeface="Calibri"/>
              </a:rPr>
              <a:t>11</a:t>
            </a:r>
          </a:p>
        </p:txBody>
      </p:sp>
      <p:sp>
        <p:nvSpPr>
          <p:cNvPr id="4" name="Rectangle 3"/>
          <p:cNvSpPr/>
          <p:nvPr/>
        </p:nvSpPr>
        <p:spPr>
          <a:xfrm>
            <a:off x="274320" y="731520"/>
            <a:ext cx="64008" cy="502920"/>
          </a:xfrm>
          <a:prstGeom prst="rect">
            <a:avLst/>
          </a:prstGeom>
          <a:solidFill>
            <a:srgbClr val="2E6F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02920" y="685800"/>
            <a:ext cx="11274552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 i="0">
                <a:solidFill>
                  <a:srgbClr val="1B2A4A"/>
                </a:solidFill>
                <a:latin typeface="Calibri"/>
              </a:rPr>
              <a:t>Results: 80% Sparsity Evaluation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1207008"/>
            <a:ext cx="11274552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1">
                <a:solidFill>
                  <a:srgbClr val="555555"/>
                </a:solidFill>
                <a:latin typeface="Calibri"/>
              </a:rPr>
              <a:t>Consistent improvement over both baselines on congestion events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1371600" y="1600200"/>
          <a:ext cx="10789920" cy="18288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572000"/>
                <a:gridCol w="2011680"/>
                <a:gridCol w="2011680"/>
                <a:gridCol w="2194560"/>
              </a:tblGrid>
              <a:tr h="457200">
                <a:tc>
                  <a:txBody>
                    <a:bodyPr/>
                    <a:lstStyle/>
                    <a:p>
                      <a:pPr algn="ctr"/>
                      <a:r>
                        <a:rPr b="1" sz="1100">
                          <a:solidFill>
                            <a:srgbClr val="FFFFFF"/>
                          </a:solidFill>
                          <a:latin typeface="Calibri"/>
                        </a:rPr>
                        <a:t>Model</a:t>
                      </a:r>
                    </a:p>
                  </a:txBody>
                  <a:tcPr>
                    <a:solidFill>
                      <a:srgbClr val="1B2A4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1" sz="1100">
                          <a:solidFill>
                            <a:srgbClr val="FFFFFF"/>
                          </a:solidFill>
                          <a:latin typeface="Calibri"/>
                        </a:rPr>
                        <a:t>MAE all (km/h)</a:t>
                      </a:r>
                    </a:p>
                  </a:txBody>
                  <a:tcPr>
                    <a:solidFill>
                      <a:srgbClr val="1B2A4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1" sz="1100">
                          <a:solidFill>
                            <a:srgbClr val="FFFFFF"/>
                          </a:solidFill>
                          <a:latin typeface="Calibri"/>
                        </a:rPr>
                        <a:t>MAE jam (km/h)</a:t>
                      </a:r>
                    </a:p>
                  </a:txBody>
                  <a:tcPr>
                    <a:solidFill>
                      <a:srgbClr val="1B2A4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1" sz="1100">
                          <a:solidFill>
                            <a:srgbClr val="FFFFFF"/>
                          </a:solidFill>
                          <a:latin typeface="Calibri"/>
                        </a:rPr>
                        <a:t>vs Global Mean Jam</a:t>
                      </a:r>
                    </a:p>
                  </a:txBody>
                  <a:tcPr>
                    <a:solidFill>
                      <a:srgbClr val="1B2A4A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/>
                      <a:r>
                        <a:rPr b="0" sz="1100">
                          <a:solidFill>
                            <a:srgbClr val="1C1C1C"/>
                          </a:solidFill>
                          <a:latin typeface="Calibri"/>
                        </a:rPr>
                        <a:t>Global mean baseline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0" sz="1100">
                          <a:solidFill>
                            <a:srgbClr val="1C1C1C"/>
                          </a:solidFill>
                          <a:latin typeface="Calibri"/>
                        </a:rPr>
                        <a:t>5.18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0" sz="1100">
                          <a:solidFill>
                            <a:srgbClr val="1C1C1C"/>
                          </a:solidFill>
                          <a:latin typeface="Calibri"/>
                        </a:rPr>
                        <a:t>35.99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0" sz="1100">
                          <a:solidFill>
                            <a:srgbClr val="1C1C1C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/>
                      <a:r>
                        <a:rPr b="0" sz="1100">
                          <a:solidFill>
                            <a:srgbClr val="1C1C1C"/>
                          </a:solidFill>
                          <a:latin typeface="Calibri"/>
                        </a:rPr>
                        <a:t>IDW spatial interpolation</a:t>
                      </a:r>
                    </a:p>
                  </a:txBody>
                  <a:tcPr>
                    <a:solidFill>
                      <a:srgbClr val="EBF1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0" sz="1100">
                          <a:solidFill>
                            <a:srgbClr val="1C1C1C"/>
                          </a:solidFill>
                          <a:latin typeface="Calibri"/>
                        </a:rPr>
                        <a:t>5.23</a:t>
                      </a:r>
                    </a:p>
                  </a:txBody>
                  <a:tcPr>
                    <a:solidFill>
                      <a:srgbClr val="EBF1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0" sz="1100">
                          <a:solidFill>
                            <a:srgbClr val="1C1C1C"/>
                          </a:solidFill>
                          <a:latin typeface="Calibri"/>
                        </a:rPr>
                        <a:t>32.95</a:t>
                      </a:r>
                    </a:p>
                  </a:txBody>
                  <a:tcPr>
                    <a:solidFill>
                      <a:srgbClr val="EBF1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0" sz="1100">
                          <a:solidFill>
                            <a:srgbClr val="1C1C1C"/>
                          </a:solidFill>
                          <a:latin typeface="Calibri"/>
                        </a:rPr>
                        <a:t>−8.5%</a:t>
                      </a:r>
                    </a:p>
                  </a:txBody>
                  <a:tcPr>
                    <a:solidFill>
                      <a:srgbClr val="EBF1FA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/>
                      <a:r>
                        <a:rPr b="0" sz="1100">
                          <a:solidFill>
                            <a:srgbClr val="1C1C1C"/>
                          </a:solidFill>
                          <a:latin typeface="Calibri"/>
                        </a:rPr>
                        <a:t>Ours — Full model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0" sz="1100">
                          <a:solidFill>
                            <a:srgbClr val="1C1C1C"/>
                          </a:solidFill>
                          <a:latin typeface="Calibri"/>
                        </a:rPr>
                        <a:t>5.18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0" sz="1100">
                          <a:solidFill>
                            <a:srgbClr val="1C1C1C"/>
                          </a:solidFill>
                          <a:latin typeface="Calibri"/>
                        </a:rPr>
                        <a:t>33.93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0" sz="1100">
                          <a:solidFill>
                            <a:srgbClr val="1C1C1C"/>
                          </a:solidFill>
                          <a:latin typeface="Calibri"/>
                        </a:rPr>
                        <a:t>−5.7%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8" name="Rectangle 7"/>
          <p:cNvSpPr/>
          <p:nvPr/>
        </p:nvSpPr>
        <p:spPr>
          <a:xfrm>
            <a:off x="320040" y="3017520"/>
            <a:ext cx="3657600" cy="1645920"/>
          </a:xfrm>
          <a:prstGeom prst="rect">
            <a:avLst/>
          </a:prstGeom>
          <a:solidFill>
            <a:srgbClr val="FFFFFF"/>
          </a:solidFill>
          <a:ln w="19050">
            <a:solidFill>
              <a:srgbClr val="5555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320040" y="3017520"/>
            <a:ext cx="3657600" cy="54864"/>
          </a:xfrm>
          <a:prstGeom prst="rect">
            <a:avLst/>
          </a:prstGeom>
          <a:solidFill>
            <a:srgbClr val="5555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29768" y="3127248"/>
            <a:ext cx="3438144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555555"/>
                </a:solidFill>
                <a:latin typeface="Calibri"/>
              </a:rPr>
              <a:t>OVERALL MAE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29768" y="3456432"/>
            <a:ext cx="3438144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 i="0">
                <a:solidFill>
                  <a:srgbClr val="1B2A4A"/>
                </a:solidFill>
                <a:latin typeface="Calibri"/>
              </a:rPr>
              <a:t>5.18 km/h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29768" y="3931920"/>
            <a:ext cx="3438144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 i="0">
                <a:solidFill>
                  <a:srgbClr val="555555"/>
                </a:solidFill>
                <a:latin typeface="Calibri"/>
              </a:rPr>
              <a:t>Matches global mean — expected.
Free-flow (92%) dominates the average.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206240" y="3017520"/>
            <a:ext cx="3657600" cy="1645920"/>
          </a:xfrm>
          <a:prstGeom prst="rect">
            <a:avLst/>
          </a:prstGeom>
          <a:solidFill>
            <a:srgbClr val="FFFFFF"/>
          </a:solidFill>
          <a:ln w="19050">
            <a:solidFill>
              <a:srgbClr val="1E8B4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4206240" y="3017520"/>
            <a:ext cx="3657600" cy="54864"/>
          </a:xfrm>
          <a:prstGeom prst="rect">
            <a:avLst/>
          </a:prstGeom>
          <a:solidFill>
            <a:srgbClr val="1E8B4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315968" y="3127248"/>
            <a:ext cx="3438144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1E8B4C"/>
                </a:solidFill>
                <a:latin typeface="Calibri"/>
              </a:rPr>
              <a:t>JAM MAE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315968" y="3456432"/>
            <a:ext cx="3438144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 i="0">
                <a:solidFill>
                  <a:srgbClr val="1B2A4A"/>
                </a:solidFill>
                <a:latin typeface="Calibri"/>
              </a:rPr>
              <a:t>33.93 km/h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315968" y="3931920"/>
            <a:ext cx="3438144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 i="0">
                <a:solidFill>
                  <a:srgbClr val="555555"/>
                </a:solidFill>
                <a:latin typeface="Calibri"/>
              </a:rPr>
              <a:t>5.7% improvement over global mean.
The key metric for real-world utility.</a:t>
            </a:r>
          </a:p>
        </p:txBody>
      </p:sp>
      <p:sp>
        <p:nvSpPr>
          <p:cNvPr id="18" name="Rectangle 17"/>
          <p:cNvSpPr/>
          <p:nvPr/>
        </p:nvSpPr>
        <p:spPr>
          <a:xfrm>
            <a:off x="8092440" y="3017520"/>
            <a:ext cx="3749039" cy="1645920"/>
          </a:xfrm>
          <a:prstGeom prst="rect">
            <a:avLst/>
          </a:prstGeom>
          <a:solidFill>
            <a:srgbClr val="FFFFFF"/>
          </a:solidFill>
          <a:ln w="19050">
            <a:solidFill>
              <a:srgbClr val="2E6F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8092440" y="3017520"/>
            <a:ext cx="3749039" cy="54864"/>
          </a:xfrm>
          <a:prstGeom prst="rect">
            <a:avLst/>
          </a:prstGeom>
          <a:solidFill>
            <a:srgbClr val="2E6F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202168" y="3127248"/>
            <a:ext cx="3529583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2E6FD9"/>
                </a:solidFill>
                <a:latin typeface="Calibri"/>
              </a:rPr>
              <a:t>vs IDW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202168" y="3456432"/>
            <a:ext cx="3529583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 i="0">
                <a:solidFill>
                  <a:srgbClr val="1B2A4A"/>
                </a:solidFill>
                <a:latin typeface="Calibri"/>
              </a:rPr>
              <a:t>+2.9% better on jams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202168" y="3931920"/>
            <a:ext cx="3529583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 i="0">
                <a:solidFill>
                  <a:srgbClr val="555555"/>
                </a:solidFill>
                <a:latin typeface="Calibri"/>
              </a:rPr>
              <a:t>Learned spatial + temporal context
beyond static adjacency weighting.</a:t>
            </a:r>
          </a:p>
        </p:txBody>
      </p:sp>
      <p:sp>
        <p:nvSpPr>
          <p:cNvPr id="23" name="Rectangle 22"/>
          <p:cNvSpPr/>
          <p:nvPr/>
        </p:nvSpPr>
        <p:spPr>
          <a:xfrm>
            <a:off x="320040" y="4892040"/>
            <a:ext cx="11548872" cy="1188720"/>
          </a:xfrm>
          <a:prstGeom prst="rect">
            <a:avLst/>
          </a:prstGeom>
          <a:solidFill>
            <a:srgbClr val="FFF8E1"/>
          </a:solidFill>
          <a:ln w="19050">
            <a:solidFill>
              <a:srgbClr val="E6A81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502920" y="4956048"/>
            <a:ext cx="11183112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7B5B00"/>
                </a:solidFill>
                <a:latin typeface="Calibri"/>
              </a:rPr>
              <a:t>⚠  Why does our model tie the global mean on overall MAE?
Free-flow is 92% of timesteps and tightly clustered near the mean. Any model near the mean on free-flow will tie on overall MAE. Jam MAE is where the real difference lies — and where our graph dynamics and sensor assimilation provide genuine value.</a:t>
            </a:r>
          </a:p>
        </p:txBody>
      </p:sp>
      <p:sp>
        <p:nvSpPr>
          <p:cNvPr id="25" name="Rectangle 24"/>
          <p:cNvSpPr/>
          <p:nvPr/>
        </p:nvSpPr>
        <p:spPr>
          <a:xfrm>
            <a:off x="0" y="6537960"/>
            <a:ext cx="12188952" cy="320040"/>
          </a:xfrm>
          <a:prstGeom prst="rect">
            <a:avLst/>
          </a:prstGeom>
          <a:solidFill>
            <a:srgbClr val="2E6F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11640312" y="6565392"/>
            <a:ext cx="4572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 i="0">
                <a:solidFill>
                  <a:srgbClr val="FFFFFF"/>
                </a:solidFill>
                <a:latin typeface="Calibri"/>
              </a:rPr>
              <a:t>11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274320" y="6565392"/>
            <a:ext cx="73152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FFFFFF"/>
                </a:solidFill>
                <a:latin typeface="Calibri"/>
              </a:rPr>
              <a:t>Hypergraph Neural ODEs for Sparse Traffic Imputation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594360"/>
          </a:xfrm>
          <a:prstGeom prst="rect">
            <a:avLst/>
          </a:prstGeom>
          <a:solidFill>
            <a:srgbClr val="1B2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74320" y="91440"/>
            <a:ext cx="11640312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 i="0">
                <a:solidFill>
                  <a:srgbClr val="FFFFFF"/>
                </a:solidFill>
                <a:latin typeface="Calibri"/>
              </a:rPr>
              <a:t>12</a:t>
            </a:r>
          </a:p>
        </p:txBody>
      </p:sp>
      <p:sp>
        <p:nvSpPr>
          <p:cNvPr id="4" name="Rectangle 3"/>
          <p:cNvSpPr/>
          <p:nvPr/>
        </p:nvSpPr>
        <p:spPr>
          <a:xfrm>
            <a:off x="274320" y="731520"/>
            <a:ext cx="64008" cy="502920"/>
          </a:xfrm>
          <a:prstGeom prst="rect">
            <a:avLst/>
          </a:prstGeom>
          <a:solidFill>
            <a:srgbClr val="2E6F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02920" y="685800"/>
            <a:ext cx="11274552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 i="0">
                <a:solidFill>
                  <a:srgbClr val="1B2A4A"/>
                </a:solidFill>
                <a:latin typeface="Calibri"/>
              </a:rPr>
              <a:t>Results: Sensor Sparsity Sweep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1207008"/>
            <a:ext cx="11274552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1">
                <a:solidFill>
                  <a:srgbClr val="555555"/>
                </a:solidFill>
                <a:latin typeface="Calibri"/>
              </a:rPr>
              <a:t>Performance degrades gracefully from 20% to 90% missing sensors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457200" y="1600200"/>
          <a:ext cx="9966960" cy="27432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280160"/>
                <a:gridCol w="1554480"/>
                <a:gridCol w="2011680"/>
                <a:gridCol w="1645920"/>
                <a:gridCol w="1645920"/>
                <a:gridCol w="1828800"/>
              </a:tblGrid>
              <a:tr h="457200">
                <a:tc>
                  <a:txBody>
                    <a:bodyPr/>
                    <a:lstStyle/>
                    <a:p>
                      <a:pPr algn="ctr"/>
                      <a:r>
                        <a:rPr b="1" sz="1100">
                          <a:solidFill>
                            <a:srgbClr val="FFFFFF"/>
                          </a:solidFill>
                          <a:latin typeface="Calibri"/>
                        </a:rPr>
                        <a:t>Sparsity</a:t>
                      </a:r>
                    </a:p>
                  </a:txBody>
                  <a:tcPr>
                    <a:solidFill>
                      <a:srgbClr val="1B2A4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1" sz="1100">
                          <a:solidFill>
                            <a:srgbClr val="FFFFFF"/>
                          </a:solidFill>
                          <a:latin typeface="Calibri"/>
                        </a:rPr>
                        <a:t>Blind Sensors</a:t>
                      </a:r>
                    </a:p>
                  </a:txBody>
                  <a:tcPr>
                    <a:solidFill>
                      <a:srgbClr val="1B2A4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1" sz="1100">
                          <a:solidFill>
                            <a:srgbClr val="FFFFFF"/>
                          </a:solidFill>
                          <a:latin typeface="Calibri"/>
                        </a:rPr>
                        <a:t>Global Mean Jam</a:t>
                      </a:r>
                    </a:p>
                  </a:txBody>
                  <a:tcPr>
                    <a:solidFill>
                      <a:srgbClr val="1B2A4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1" sz="1100">
                          <a:solidFill>
                            <a:srgbClr val="FFFFFF"/>
                          </a:solidFill>
                          <a:latin typeface="Calibri"/>
                        </a:rPr>
                        <a:t>IDW Jam</a:t>
                      </a:r>
                    </a:p>
                  </a:txBody>
                  <a:tcPr>
                    <a:solidFill>
                      <a:srgbClr val="1B2A4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1" sz="1100">
                          <a:solidFill>
                            <a:srgbClr val="FFFFFF"/>
                          </a:solidFill>
                          <a:latin typeface="Calibri"/>
                        </a:rPr>
                        <a:t>Model Jam</a:t>
                      </a:r>
                    </a:p>
                  </a:txBody>
                  <a:tcPr>
                    <a:solidFill>
                      <a:srgbClr val="1B2A4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1" sz="1100">
                          <a:solidFill>
                            <a:srgbClr val="FFFFFF"/>
                          </a:solidFill>
                          <a:latin typeface="Calibri"/>
                        </a:rPr>
                        <a:t>vs Baseline</a:t>
                      </a:r>
                    </a:p>
                  </a:txBody>
                  <a:tcPr>
                    <a:solidFill>
                      <a:srgbClr val="1B2A4A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/>
                      <a:r>
                        <a:rPr b="0" sz="1100">
                          <a:solidFill>
                            <a:srgbClr val="1C1C1C"/>
                          </a:solidFill>
                          <a:latin typeface="Calibri"/>
                        </a:rPr>
                        <a:t>20%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0" sz="1100">
                          <a:solidFill>
                            <a:srgbClr val="1C1C1C"/>
                          </a:solidFill>
                          <a:latin typeface="Calibri"/>
                        </a:rPr>
                        <a:t>22%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0" sz="1100">
                          <a:solidFill>
                            <a:srgbClr val="1C1C1C"/>
                          </a:solidFill>
                          <a:latin typeface="Calibri"/>
                        </a:rPr>
                        <a:t>36.04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0" sz="1100">
                          <a:solidFill>
                            <a:srgbClr val="1C1C1C"/>
                          </a:solidFill>
                          <a:latin typeface="Calibri"/>
                        </a:rPr>
                        <a:t>27.35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0" sz="1100">
                          <a:solidFill>
                            <a:srgbClr val="1C1C1C"/>
                          </a:solidFill>
                          <a:latin typeface="Calibri"/>
                        </a:rPr>
                        <a:t>27.68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0" sz="1100">
                          <a:solidFill>
                            <a:srgbClr val="1C1C1C"/>
                          </a:solidFill>
                          <a:latin typeface="Calibri"/>
                        </a:rPr>
                        <a:t>+23.2%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/>
                      <a:r>
                        <a:rPr b="0" sz="1100">
                          <a:solidFill>
                            <a:srgbClr val="1C1C1C"/>
                          </a:solidFill>
                          <a:latin typeface="Calibri"/>
                        </a:rPr>
                        <a:t>40%</a:t>
                      </a:r>
                    </a:p>
                  </a:txBody>
                  <a:tcPr>
                    <a:solidFill>
                      <a:srgbClr val="EBF1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0" sz="1100">
                          <a:solidFill>
                            <a:srgbClr val="1C1C1C"/>
                          </a:solidFill>
                          <a:latin typeface="Calibri"/>
                        </a:rPr>
                        <a:t>48%</a:t>
                      </a:r>
                    </a:p>
                  </a:txBody>
                  <a:tcPr>
                    <a:solidFill>
                      <a:srgbClr val="EBF1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0" sz="1100">
                          <a:solidFill>
                            <a:srgbClr val="1C1C1C"/>
                          </a:solidFill>
                          <a:latin typeface="Calibri"/>
                        </a:rPr>
                        <a:t>35.74</a:t>
                      </a:r>
                    </a:p>
                  </a:txBody>
                  <a:tcPr>
                    <a:solidFill>
                      <a:srgbClr val="EBF1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0" sz="1100">
                          <a:solidFill>
                            <a:srgbClr val="1C1C1C"/>
                          </a:solidFill>
                          <a:latin typeface="Calibri"/>
                        </a:rPr>
                        <a:t>29.73</a:t>
                      </a:r>
                    </a:p>
                  </a:txBody>
                  <a:tcPr>
                    <a:solidFill>
                      <a:srgbClr val="EBF1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0" sz="1100">
                          <a:solidFill>
                            <a:srgbClr val="1C1C1C"/>
                          </a:solidFill>
                          <a:latin typeface="Calibri"/>
                        </a:rPr>
                        <a:t>28.27</a:t>
                      </a:r>
                    </a:p>
                  </a:txBody>
                  <a:tcPr>
                    <a:solidFill>
                      <a:srgbClr val="EBF1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0" sz="1100">
                          <a:solidFill>
                            <a:srgbClr val="1C1C1C"/>
                          </a:solidFill>
                          <a:latin typeface="Calibri"/>
                        </a:rPr>
                        <a:t>+20.9%</a:t>
                      </a:r>
                    </a:p>
                  </a:txBody>
                  <a:tcPr>
                    <a:solidFill>
                      <a:srgbClr val="EBF1FA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/>
                      <a:r>
                        <a:rPr b="0" sz="1100">
                          <a:solidFill>
                            <a:srgbClr val="1C1C1C"/>
                          </a:solidFill>
                          <a:latin typeface="Calibri"/>
                        </a:rPr>
                        <a:t>60%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0" sz="1100">
                          <a:solidFill>
                            <a:srgbClr val="1C1C1C"/>
                          </a:solidFill>
                          <a:latin typeface="Calibri"/>
                        </a:rPr>
                        <a:t>62%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0" sz="1100">
                          <a:solidFill>
                            <a:srgbClr val="1C1C1C"/>
                          </a:solidFill>
                          <a:latin typeface="Calibri"/>
                        </a:rPr>
                        <a:t>36.01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0" sz="1100">
                          <a:solidFill>
                            <a:srgbClr val="1C1C1C"/>
                          </a:solidFill>
                          <a:latin typeface="Calibri"/>
                        </a:rPr>
                        <a:t>29.98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0" sz="1100">
                          <a:solidFill>
                            <a:srgbClr val="1C1C1C"/>
                          </a:solidFill>
                          <a:latin typeface="Calibri"/>
                        </a:rPr>
                        <a:t>31.66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0" sz="1100">
                          <a:solidFill>
                            <a:srgbClr val="1C1C1C"/>
                          </a:solidFill>
                          <a:latin typeface="Calibri"/>
                        </a:rPr>
                        <a:t>+12.1%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/>
                      <a:r>
                        <a:rPr b="0" sz="1100">
                          <a:solidFill>
                            <a:srgbClr val="1C1C1C"/>
                          </a:solidFill>
                          <a:latin typeface="Calibri"/>
                        </a:rPr>
                        <a:t>80%</a:t>
                      </a:r>
                    </a:p>
                  </a:txBody>
                  <a:tcPr>
                    <a:solidFill>
                      <a:srgbClr val="EBF1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0" sz="1100">
                          <a:solidFill>
                            <a:srgbClr val="1C1C1C"/>
                          </a:solidFill>
                          <a:latin typeface="Calibri"/>
                        </a:rPr>
                        <a:t>83%</a:t>
                      </a:r>
                    </a:p>
                  </a:txBody>
                  <a:tcPr>
                    <a:solidFill>
                      <a:srgbClr val="EBF1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0" sz="1100">
                          <a:solidFill>
                            <a:srgbClr val="1C1C1C"/>
                          </a:solidFill>
                          <a:latin typeface="Calibri"/>
                        </a:rPr>
                        <a:t>35.99</a:t>
                      </a:r>
                    </a:p>
                  </a:txBody>
                  <a:tcPr>
                    <a:solidFill>
                      <a:srgbClr val="EBF1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0" sz="1100">
                          <a:solidFill>
                            <a:srgbClr val="1C1C1C"/>
                          </a:solidFill>
                          <a:latin typeface="Calibri"/>
                        </a:rPr>
                        <a:t>32.95</a:t>
                      </a:r>
                    </a:p>
                  </a:txBody>
                  <a:tcPr>
                    <a:solidFill>
                      <a:srgbClr val="EBF1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0" sz="1100">
                          <a:solidFill>
                            <a:srgbClr val="1C1C1C"/>
                          </a:solidFill>
                          <a:latin typeface="Calibri"/>
                        </a:rPr>
                        <a:t>31.19</a:t>
                      </a:r>
                    </a:p>
                  </a:txBody>
                  <a:tcPr>
                    <a:solidFill>
                      <a:srgbClr val="EBF1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0" sz="1100">
                          <a:solidFill>
                            <a:srgbClr val="1C1C1C"/>
                          </a:solidFill>
                          <a:latin typeface="Calibri"/>
                        </a:rPr>
                        <a:t>+13.3%</a:t>
                      </a:r>
                    </a:p>
                  </a:txBody>
                  <a:tcPr>
                    <a:solidFill>
                      <a:srgbClr val="EBF1FA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/>
                      <a:r>
                        <a:rPr b="0" sz="1100">
                          <a:solidFill>
                            <a:srgbClr val="1C1C1C"/>
                          </a:solidFill>
                          <a:latin typeface="Calibri"/>
                        </a:rPr>
                        <a:t>90%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0" sz="1100">
                          <a:solidFill>
                            <a:srgbClr val="1C1C1C"/>
                          </a:solidFill>
                          <a:latin typeface="Calibri"/>
                        </a:rPr>
                        <a:t>90%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0" sz="1100">
                          <a:solidFill>
                            <a:srgbClr val="1C1C1C"/>
                          </a:solidFill>
                          <a:latin typeface="Calibri"/>
                        </a:rPr>
                        <a:t>35.99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0" sz="1100">
                          <a:solidFill>
                            <a:srgbClr val="1C1C1C"/>
                          </a:solidFill>
                          <a:latin typeface="Calibri"/>
                        </a:rPr>
                        <a:t>33.81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0" sz="1100">
                          <a:solidFill>
                            <a:srgbClr val="1C1C1C"/>
                          </a:solidFill>
                          <a:latin typeface="Calibri"/>
                        </a:rPr>
                        <a:t>34.58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0" sz="1100">
                          <a:solidFill>
                            <a:srgbClr val="1C1C1C"/>
                          </a:solidFill>
                          <a:latin typeface="Calibri"/>
                        </a:rPr>
                        <a:t>+3.9%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8" name="Rectangle 7"/>
          <p:cNvSpPr/>
          <p:nvPr/>
        </p:nvSpPr>
        <p:spPr>
          <a:xfrm>
            <a:off x="320040" y="4297680"/>
            <a:ext cx="11521440" cy="1828800"/>
          </a:xfrm>
          <a:prstGeom prst="rect">
            <a:avLst/>
          </a:prstGeom>
          <a:solidFill>
            <a:srgbClr val="EBF1FA"/>
          </a:solidFill>
          <a:ln w="6350">
            <a:solidFill>
              <a:srgbClr val="C5D6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57200" y="4407408"/>
            <a:ext cx="112471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1B2A4A"/>
                </a:solidFill>
                <a:latin typeface="Calibri"/>
              </a:rPr>
              <a:t>Key Observations</a:t>
            </a:r>
          </a:p>
        </p:txBody>
      </p:sp>
      <p:sp>
        <p:nvSpPr>
          <p:cNvPr id="10" name="Rectangle 9"/>
          <p:cNvSpPr/>
          <p:nvPr/>
        </p:nvSpPr>
        <p:spPr>
          <a:xfrm>
            <a:off x="457200" y="4791456"/>
            <a:ext cx="11247120" cy="18288"/>
          </a:xfrm>
          <a:prstGeom prst="rect">
            <a:avLst/>
          </a:prstGeom>
          <a:solidFill>
            <a:srgbClr val="2E6F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84632" y="4864608"/>
            <a:ext cx="11192256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300"/>
              </a:spcBef>
            </a:pPr>
            <a:r>
              <a:rPr sz="1250">
                <a:solidFill>
                  <a:srgbClr val="1C1C1C"/>
                </a:solidFill>
                <a:latin typeface="Calibri"/>
              </a:rPr>
              <a:t>▸  Model consistently outperforms global-mean baseline at ALL sparsity levels</a:t>
            </a:r>
          </a:p>
          <a:p>
            <a:pPr>
              <a:spcBef>
                <a:spcPts val="300"/>
              </a:spcBef>
            </a:pPr>
            <a:r>
              <a:rPr sz="1250">
                <a:solidFill>
                  <a:srgbClr val="1C1C1C"/>
                </a:solidFill>
                <a:latin typeface="Calibri"/>
              </a:rPr>
              <a:t>▸  At 90% sparsity: model approaches baseline — expected (almost no neighbour context remains)</a:t>
            </a:r>
          </a:p>
          <a:p>
            <a:pPr>
              <a:spcBef>
                <a:spcPts val="300"/>
              </a:spcBef>
            </a:pPr>
            <a:r>
              <a:rPr sz="1250">
                <a:solidFill>
                  <a:srgbClr val="1C1C1C"/>
                </a:solidFill>
                <a:latin typeface="Calibri"/>
              </a:rPr>
              <a:t>▸  vs IDW: mixed results (IDW has an advantage when observed sensors are many and close)</a:t>
            </a:r>
          </a:p>
          <a:p>
            <a:pPr>
              <a:spcBef>
                <a:spcPts val="300"/>
              </a:spcBef>
            </a:pPr>
            <a:r>
              <a:rPr sz="1250">
                <a:solidFill>
                  <a:srgbClr val="1C1C1C"/>
                </a:solidFill>
                <a:latin typeface="Calibri"/>
              </a:rPr>
              <a:t>▸  Sparsity sweep confirms graceful degradation — no catastrophic failure mode</a:t>
            </a:r>
          </a:p>
        </p:txBody>
      </p:sp>
      <p:sp>
        <p:nvSpPr>
          <p:cNvPr id="12" name="Rectangle 11"/>
          <p:cNvSpPr/>
          <p:nvPr/>
        </p:nvSpPr>
        <p:spPr>
          <a:xfrm>
            <a:off x="0" y="6537960"/>
            <a:ext cx="12188952" cy="320040"/>
          </a:xfrm>
          <a:prstGeom prst="rect">
            <a:avLst/>
          </a:prstGeom>
          <a:solidFill>
            <a:srgbClr val="2E6F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1640312" y="6565392"/>
            <a:ext cx="4572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 i="0">
                <a:solidFill>
                  <a:srgbClr val="FFFFFF"/>
                </a:solidFill>
                <a:latin typeface="Calibri"/>
              </a:rPr>
              <a:t>12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74320" y="6565392"/>
            <a:ext cx="73152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FFFFFF"/>
                </a:solidFill>
                <a:latin typeface="Calibri"/>
              </a:rPr>
              <a:t>Hypergraph Neural ODEs for Sparse Traffic Imputation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594360"/>
          </a:xfrm>
          <a:prstGeom prst="rect">
            <a:avLst/>
          </a:prstGeom>
          <a:solidFill>
            <a:srgbClr val="1B2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74320" y="91440"/>
            <a:ext cx="11640312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 i="0">
                <a:solidFill>
                  <a:srgbClr val="FFFFFF"/>
                </a:solidFill>
                <a:latin typeface="Calibri"/>
              </a:rPr>
              <a:t>13</a:t>
            </a:r>
          </a:p>
        </p:txBody>
      </p:sp>
      <p:sp>
        <p:nvSpPr>
          <p:cNvPr id="4" name="Rectangle 3"/>
          <p:cNvSpPr/>
          <p:nvPr/>
        </p:nvSpPr>
        <p:spPr>
          <a:xfrm>
            <a:off x="274320" y="731520"/>
            <a:ext cx="64008" cy="502920"/>
          </a:xfrm>
          <a:prstGeom prst="rect">
            <a:avLst/>
          </a:prstGeom>
          <a:solidFill>
            <a:srgbClr val="2E6F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02920" y="685800"/>
            <a:ext cx="11274552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 i="0">
                <a:solidFill>
                  <a:srgbClr val="1B2A4A"/>
                </a:solidFill>
                <a:latin typeface="Calibri"/>
              </a:rPr>
              <a:t>Ablation Study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1207008"/>
            <a:ext cx="11274552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1">
                <a:solidFill>
                  <a:srgbClr val="555555"/>
                </a:solidFill>
                <a:latin typeface="Calibri"/>
              </a:rPr>
              <a:t>Measuring each component's contribution — 300 epochs per variant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457200" y="1600200"/>
          <a:ext cx="11338560" cy="378561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840480"/>
                <a:gridCol w="1554480"/>
                <a:gridCol w="1554480"/>
                <a:gridCol w="4389120"/>
              </a:tblGrid>
              <a:tr h="420624">
                <a:tc>
                  <a:txBody>
                    <a:bodyPr/>
                    <a:lstStyle/>
                    <a:p>
                      <a:pPr algn="ctr"/>
                      <a:r>
                        <a:rPr b="1" sz="1100">
                          <a:solidFill>
                            <a:srgbClr val="FFFFFF"/>
                          </a:solidFill>
                          <a:latin typeface="Calibri"/>
                        </a:rPr>
                        <a:t>Model / Variant</a:t>
                      </a:r>
                    </a:p>
                  </a:txBody>
                  <a:tcPr>
                    <a:solidFill>
                      <a:srgbClr val="1B2A4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1" sz="1100">
                          <a:solidFill>
                            <a:srgbClr val="FFFFFF"/>
                          </a:solidFill>
                          <a:latin typeface="Calibri"/>
                        </a:rPr>
                        <a:t>MAE all</a:t>
                      </a:r>
                    </a:p>
                  </a:txBody>
                  <a:tcPr>
                    <a:solidFill>
                      <a:srgbClr val="1B2A4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1" sz="1100">
                          <a:solidFill>
                            <a:srgbClr val="FFFFFF"/>
                          </a:solidFill>
                          <a:latin typeface="Calibri"/>
                        </a:rPr>
                        <a:t>MAE jam</a:t>
                      </a:r>
                    </a:p>
                  </a:txBody>
                  <a:tcPr>
                    <a:solidFill>
                      <a:srgbClr val="1B2A4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1" sz="1100">
                          <a:solidFill>
                            <a:srgbClr val="FFFFFF"/>
                          </a:solidFill>
                          <a:latin typeface="Calibri"/>
                        </a:rPr>
                        <a:t>Δ jam  (+ = component helps)</a:t>
                      </a:r>
                    </a:p>
                  </a:txBody>
                  <a:tcPr>
                    <a:solidFill>
                      <a:srgbClr val="1B2A4A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algn="l"/>
                      <a:r>
                        <a:rPr b="0" sz="1100">
                          <a:solidFill>
                            <a:srgbClr val="1C1C1C"/>
                          </a:solidFill>
                          <a:latin typeface="Calibri"/>
                        </a:rPr>
                        <a:t>Global mean baseline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0" sz="1100">
                          <a:solidFill>
                            <a:srgbClr val="1C1C1C"/>
                          </a:solidFill>
                          <a:latin typeface="Calibri"/>
                        </a:rPr>
                        <a:t>5.18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0" sz="1100">
                          <a:solidFill>
                            <a:srgbClr val="1C1C1C"/>
                          </a:solidFill>
                          <a:latin typeface="Calibri"/>
                        </a:rPr>
                        <a:t>35.99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0" sz="1100">
                          <a:solidFill>
                            <a:srgbClr val="1C1C1C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algn="l"/>
                      <a:r>
                        <a:rPr b="0" sz="1100">
                          <a:solidFill>
                            <a:srgbClr val="1C1C1C"/>
                          </a:solidFill>
                          <a:latin typeface="Calibri"/>
                        </a:rPr>
                        <a:t>IDW (spatial interp.)</a:t>
                      </a:r>
                    </a:p>
                  </a:txBody>
                  <a:tcPr>
                    <a:solidFill>
                      <a:srgbClr val="EBF1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0" sz="1100">
                          <a:solidFill>
                            <a:srgbClr val="1C1C1C"/>
                          </a:solidFill>
                          <a:latin typeface="Calibri"/>
                        </a:rPr>
                        <a:t>5.23</a:t>
                      </a:r>
                    </a:p>
                  </a:txBody>
                  <a:tcPr>
                    <a:solidFill>
                      <a:srgbClr val="EBF1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0" sz="1100">
                          <a:solidFill>
                            <a:srgbClr val="1C1C1C"/>
                          </a:solidFill>
                          <a:latin typeface="Calibri"/>
                        </a:rPr>
                        <a:t>32.95</a:t>
                      </a:r>
                    </a:p>
                  </a:txBody>
                  <a:tcPr>
                    <a:solidFill>
                      <a:srgbClr val="EBF1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0" sz="1100">
                          <a:solidFill>
                            <a:srgbClr val="1C1C1C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>
                    <a:solidFill>
                      <a:srgbClr val="EBF1FA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algn="l"/>
                      <a:r>
                        <a:rPr b="0" sz="1100">
                          <a:solidFill>
                            <a:srgbClr val="1C1C1C"/>
                          </a:solidFill>
                          <a:latin typeface="Calibri"/>
                        </a:rPr>
                        <a:t>Full model  ◀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0" sz="1100">
                          <a:solidFill>
                            <a:srgbClr val="1C1C1C"/>
                          </a:solidFill>
                          <a:latin typeface="Calibri"/>
                        </a:rPr>
                        <a:t>5.18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0" sz="1100">
                          <a:solidFill>
                            <a:srgbClr val="1C1C1C"/>
                          </a:solidFill>
                          <a:latin typeface="Calibri"/>
                        </a:rPr>
                        <a:t>33.93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0" sz="1100">
                          <a:solidFill>
                            <a:srgbClr val="1C1C1C"/>
                          </a:solidFill>
                          <a:latin typeface="Calibri"/>
                        </a:rPr>
                        <a:t>+0.00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algn="l"/>
                      <a:r>
                        <a:rPr b="0" sz="1100">
                          <a:solidFill>
                            <a:srgbClr val="1C1C1C"/>
                          </a:solidFill>
                          <a:latin typeface="Calibri"/>
                        </a:rPr>
                        <a:t>−  Hypergraph</a:t>
                      </a:r>
                    </a:p>
                  </a:txBody>
                  <a:tcPr>
                    <a:solidFill>
                      <a:srgbClr val="EBF1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0" sz="1100">
                          <a:solidFill>
                            <a:srgbClr val="1C1C1C"/>
                          </a:solidFill>
                          <a:latin typeface="Calibri"/>
                        </a:rPr>
                        <a:t>5.54</a:t>
                      </a:r>
                    </a:p>
                  </a:txBody>
                  <a:tcPr>
                    <a:solidFill>
                      <a:srgbClr val="EBF1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0" sz="1100">
                          <a:solidFill>
                            <a:srgbClr val="1C1C1C"/>
                          </a:solidFill>
                          <a:latin typeface="Calibri"/>
                        </a:rPr>
                        <a:t>31.66</a:t>
                      </a:r>
                    </a:p>
                  </a:txBody>
                  <a:tcPr>
                    <a:solidFill>
                      <a:srgbClr val="EBF1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0" sz="1100">
                          <a:solidFill>
                            <a:srgbClr val="1C1C1C"/>
                          </a:solidFill>
                          <a:latin typeface="Calibri"/>
                        </a:rPr>
                        <a:t>−2.27</a:t>
                      </a:r>
                    </a:p>
                  </a:txBody>
                  <a:tcPr>
                    <a:solidFill>
                      <a:srgbClr val="EBF1FA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algn="l"/>
                      <a:r>
                        <a:rPr b="0" sz="1100">
                          <a:solidFill>
                            <a:srgbClr val="1C1C1C"/>
                          </a:solidFill>
                          <a:latin typeface="Calibri"/>
                        </a:rPr>
                        <a:t>−  Assimilation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0" sz="1100">
                          <a:solidFill>
                            <a:srgbClr val="1C1C1C"/>
                          </a:solidFill>
                          <a:latin typeface="Calibri"/>
                        </a:rPr>
                        <a:t>5.29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0" sz="1100">
                          <a:solidFill>
                            <a:srgbClr val="1C1C1C"/>
                          </a:solidFill>
                          <a:latin typeface="Calibri"/>
                        </a:rPr>
                        <a:t>32.54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0" sz="1100">
                          <a:solidFill>
                            <a:srgbClr val="1C1C1C"/>
                          </a:solidFill>
                          <a:latin typeface="Calibri"/>
                        </a:rPr>
                        <a:t>−1.38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algn="l"/>
                      <a:r>
                        <a:rPr b="0" sz="1100">
                          <a:solidFill>
                            <a:srgbClr val="1C1C1C"/>
                          </a:solidFill>
                          <a:latin typeface="Calibri"/>
                        </a:rPr>
                        <a:t>−  Physics loss</a:t>
                      </a:r>
                    </a:p>
                  </a:txBody>
                  <a:tcPr>
                    <a:solidFill>
                      <a:srgbClr val="EBF1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0" sz="1100">
                          <a:solidFill>
                            <a:srgbClr val="1C1C1C"/>
                          </a:solidFill>
                          <a:latin typeface="Calibri"/>
                        </a:rPr>
                        <a:t>5.32</a:t>
                      </a:r>
                    </a:p>
                  </a:txBody>
                  <a:tcPr>
                    <a:solidFill>
                      <a:srgbClr val="EBF1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0" sz="1100">
                          <a:solidFill>
                            <a:srgbClr val="1C1C1C"/>
                          </a:solidFill>
                          <a:latin typeface="Calibri"/>
                        </a:rPr>
                        <a:t>33.32</a:t>
                      </a:r>
                    </a:p>
                  </a:txBody>
                  <a:tcPr>
                    <a:solidFill>
                      <a:srgbClr val="EBF1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0" sz="1100">
                          <a:solidFill>
                            <a:srgbClr val="1C1C1C"/>
                          </a:solidFill>
                          <a:latin typeface="Calibri"/>
                        </a:rPr>
                        <a:t>−0.61</a:t>
                      </a:r>
                    </a:p>
                  </a:txBody>
                  <a:tcPr>
                    <a:solidFill>
                      <a:srgbClr val="EBF1FA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algn="l"/>
                      <a:r>
                        <a:rPr b="0" sz="1100">
                          <a:solidFill>
                            <a:srgbClr val="1C1C1C"/>
                          </a:solidFill>
                          <a:latin typeface="Calibri"/>
                        </a:rPr>
                        <a:t>−  Neighbour context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0" sz="1100">
                          <a:solidFill>
                            <a:srgbClr val="1C1C1C"/>
                          </a:solidFill>
                          <a:latin typeface="Calibri"/>
                        </a:rPr>
                        <a:t>5.84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0" sz="1100">
                          <a:solidFill>
                            <a:srgbClr val="1C1C1C"/>
                          </a:solidFill>
                          <a:latin typeface="Calibri"/>
                        </a:rPr>
                        <a:t>28.99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0" sz="1100">
                          <a:solidFill>
                            <a:srgbClr val="1C1C1C"/>
                          </a:solidFill>
                          <a:latin typeface="Calibri"/>
                        </a:rPr>
                        <a:t>−4.94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algn="l"/>
                      <a:r>
                        <a:rPr b="0" sz="1100">
                          <a:solidFill>
                            <a:srgbClr val="1C1C1C"/>
                          </a:solidFill>
                          <a:latin typeface="Calibri"/>
                        </a:rPr>
                        <a:t>−  Temporal encoding</a:t>
                      </a:r>
                    </a:p>
                  </a:txBody>
                  <a:tcPr>
                    <a:solidFill>
                      <a:srgbClr val="EBF1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0" sz="1100">
                          <a:solidFill>
                            <a:srgbClr val="1C1C1C"/>
                          </a:solidFill>
                          <a:latin typeface="Calibri"/>
                        </a:rPr>
                        <a:t>6.00</a:t>
                      </a:r>
                    </a:p>
                  </a:txBody>
                  <a:tcPr>
                    <a:solidFill>
                      <a:srgbClr val="EBF1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0" sz="1100">
                          <a:solidFill>
                            <a:srgbClr val="1C1C1C"/>
                          </a:solidFill>
                          <a:latin typeface="Calibri"/>
                        </a:rPr>
                        <a:t>33.51</a:t>
                      </a:r>
                    </a:p>
                  </a:txBody>
                  <a:tcPr>
                    <a:solidFill>
                      <a:srgbClr val="EBF1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0" sz="1100">
                          <a:solidFill>
                            <a:srgbClr val="1C1C1C"/>
                          </a:solidFill>
                          <a:latin typeface="Calibri"/>
                        </a:rPr>
                        <a:t>−0.41</a:t>
                      </a:r>
                    </a:p>
                  </a:txBody>
                  <a:tcPr>
                    <a:solidFill>
                      <a:srgbClr val="EBF1FA"/>
                    </a:solidFill>
                  </a:tcPr>
                </a:tc>
              </a:tr>
            </a:tbl>
          </a:graphicData>
        </a:graphic>
      </p:graphicFrame>
      <p:sp>
        <p:nvSpPr>
          <p:cNvPr id="8" name="Rectangle 7"/>
          <p:cNvSpPr/>
          <p:nvPr/>
        </p:nvSpPr>
        <p:spPr>
          <a:xfrm>
            <a:off x="320040" y="5806440"/>
            <a:ext cx="11548872" cy="777240"/>
          </a:xfrm>
          <a:prstGeom prst="rect">
            <a:avLst/>
          </a:prstGeom>
          <a:solidFill>
            <a:srgbClr val="E8F0FF"/>
          </a:solidFill>
          <a:ln w="12700">
            <a:solidFill>
              <a:srgbClr val="2E6F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02920" y="5852160"/>
            <a:ext cx="11183112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 i="0">
                <a:solidFill>
                  <a:srgbClr val="1B2A4A"/>
                </a:solidFill>
                <a:latin typeface="Calibri"/>
              </a:rPr>
              <a:t>Note: Δ jam = full_jam − variant_jam. Positive = removing this component hurts jam imputation. The gated hypergraph (init gate ≈ 0.12) and neighbour context require more epochs to converge — their gate/weights need time to learn when corridor context helps vs when it over-smooths. Temporal encoding and assimilation show clear positive contributions.</a:t>
            </a:r>
          </a:p>
        </p:txBody>
      </p:sp>
      <p:sp>
        <p:nvSpPr>
          <p:cNvPr id="10" name="Rectangle 9"/>
          <p:cNvSpPr/>
          <p:nvPr/>
        </p:nvSpPr>
        <p:spPr>
          <a:xfrm>
            <a:off x="0" y="6537960"/>
            <a:ext cx="12188952" cy="320040"/>
          </a:xfrm>
          <a:prstGeom prst="rect">
            <a:avLst/>
          </a:prstGeom>
          <a:solidFill>
            <a:srgbClr val="2E6F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1640312" y="6565392"/>
            <a:ext cx="4572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 i="0">
                <a:solidFill>
                  <a:srgbClr val="FFFFFF"/>
                </a:solidFill>
                <a:latin typeface="Calibri"/>
              </a:rPr>
              <a:t>13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74320" y="6565392"/>
            <a:ext cx="73152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FFFFFF"/>
                </a:solidFill>
                <a:latin typeface="Calibri"/>
              </a:rPr>
              <a:t>Hypergraph Neural ODEs for Sparse Traffic Imputation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594360"/>
          </a:xfrm>
          <a:prstGeom prst="rect">
            <a:avLst/>
          </a:prstGeom>
          <a:solidFill>
            <a:srgbClr val="1B2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74320" y="91440"/>
            <a:ext cx="11640312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 i="0">
                <a:solidFill>
                  <a:srgbClr val="FFFFFF"/>
                </a:solidFill>
                <a:latin typeface="Calibri"/>
              </a:rPr>
              <a:t>14</a:t>
            </a:r>
          </a:p>
        </p:txBody>
      </p:sp>
      <p:sp>
        <p:nvSpPr>
          <p:cNvPr id="4" name="Rectangle 3"/>
          <p:cNvSpPr/>
          <p:nvPr/>
        </p:nvSpPr>
        <p:spPr>
          <a:xfrm>
            <a:off x="274320" y="731520"/>
            <a:ext cx="64008" cy="502920"/>
          </a:xfrm>
          <a:prstGeom prst="rect">
            <a:avLst/>
          </a:prstGeom>
          <a:solidFill>
            <a:srgbClr val="2E6F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02920" y="685800"/>
            <a:ext cx="11274552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 i="0">
                <a:solidFill>
                  <a:srgbClr val="1B2A4A"/>
                </a:solidFill>
                <a:latin typeface="Calibri"/>
              </a:rPr>
              <a:t>State of the Art Context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1207008"/>
            <a:ext cx="11274552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1">
                <a:solidFill>
                  <a:srgbClr val="555555"/>
                </a:solidFill>
                <a:latin typeface="Calibri"/>
              </a:rPr>
              <a:t>Different task — not directly comparable, but contextualised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320040" y="1600200"/>
          <a:ext cx="10607040" cy="27432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657600"/>
                <a:gridCol w="1645920"/>
                <a:gridCol w="1645920"/>
                <a:gridCol w="1371600"/>
                <a:gridCol w="2286000"/>
              </a:tblGrid>
              <a:tr h="457200">
                <a:tc>
                  <a:txBody>
                    <a:bodyPr/>
                    <a:lstStyle/>
                    <a:p>
                      <a:pPr algn="ctr"/>
                      <a:r>
                        <a:rPr b="1" sz="1100">
                          <a:solidFill>
                            <a:srgbClr val="FFFFFF"/>
                          </a:solidFill>
                          <a:latin typeface="Calibri"/>
                        </a:rPr>
                        <a:t>Model</a:t>
                      </a:r>
                    </a:p>
                  </a:txBody>
                  <a:tcPr>
                    <a:solidFill>
                      <a:srgbClr val="1B2A4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1" sz="1100">
                          <a:solidFill>
                            <a:srgbClr val="FFFFFF"/>
                          </a:solidFill>
                          <a:latin typeface="Calibri"/>
                        </a:rPr>
                        <a:t>Venue</a:t>
                      </a:r>
                    </a:p>
                  </a:txBody>
                  <a:tcPr>
                    <a:solidFill>
                      <a:srgbClr val="1B2A4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1" sz="1100">
                          <a:solidFill>
                            <a:srgbClr val="FFFFFF"/>
                          </a:solidFill>
                          <a:latin typeface="Calibri"/>
                        </a:rPr>
                        <a:t>Task</a:t>
                      </a:r>
                    </a:p>
                  </a:txBody>
                  <a:tcPr>
                    <a:solidFill>
                      <a:srgbClr val="1B2A4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1" sz="1100">
                          <a:solidFill>
                            <a:srgbClr val="FFFFFF"/>
                          </a:solidFill>
                          <a:latin typeface="Calibri"/>
                        </a:rPr>
                        <a:t>Sensors</a:t>
                      </a:r>
                    </a:p>
                  </a:txBody>
                  <a:tcPr>
                    <a:solidFill>
                      <a:srgbClr val="1B2A4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1" sz="1100">
                          <a:solidFill>
                            <a:srgbClr val="FFFFFF"/>
                          </a:solidFill>
                          <a:latin typeface="Calibri"/>
                        </a:rPr>
                        <a:t>PEMS04 MAE</a:t>
                      </a:r>
                    </a:p>
                  </a:txBody>
                  <a:tcPr>
                    <a:solidFill>
                      <a:srgbClr val="1B2A4A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/>
                      <a:r>
                        <a:rPr b="0" sz="1100">
                          <a:solidFill>
                            <a:srgbClr val="1C1C1C"/>
                          </a:solidFill>
                          <a:latin typeface="Calibri"/>
                        </a:rPr>
                        <a:t>DCRNN (Li et al., 2018)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0" sz="1100">
                          <a:solidFill>
                            <a:srgbClr val="1C1C1C"/>
                          </a:solidFill>
                          <a:latin typeface="Calibri"/>
                        </a:rPr>
                        <a:t>ICLR 2018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0" sz="1100">
                          <a:solidFill>
                            <a:srgbClr val="1C1C1C"/>
                          </a:solidFill>
                          <a:latin typeface="Calibri"/>
                        </a:rPr>
                        <a:t>Forecasting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0" sz="1100">
                          <a:solidFill>
                            <a:srgbClr val="1C1C1C"/>
                          </a:solidFill>
                          <a:latin typeface="Calibri"/>
                        </a:rPr>
                        <a:t>100%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0" sz="1100">
                          <a:solidFill>
                            <a:srgbClr val="1C1C1C"/>
                          </a:solidFill>
                          <a:latin typeface="Calibri"/>
                        </a:rPr>
                        <a:t>~1.8 km/h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/>
                      <a:r>
                        <a:rPr b="0" sz="1100">
                          <a:solidFill>
                            <a:srgbClr val="1C1C1C"/>
                          </a:solidFill>
                          <a:latin typeface="Calibri"/>
                        </a:rPr>
                        <a:t>STGCN (Yu et al., 2018)</a:t>
                      </a:r>
                    </a:p>
                  </a:txBody>
                  <a:tcPr>
                    <a:solidFill>
                      <a:srgbClr val="EBF1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0" sz="1100">
                          <a:solidFill>
                            <a:srgbClr val="1C1C1C"/>
                          </a:solidFill>
                          <a:latin typeface="Calibri"/>
                        </a:rPr>
                        <a:t>IJCAI 2018</a:t>
                      </a:r>
                    </a:p>
                  </a:txBody>
                  <a:tcPr>
                    <a:solidFill>
                      <a:srgbClr val="EBF1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0" sz="1100">
                          <a:solidFill>
                            <a:srgbClr val="1C1C1C"/>
                          </a:solidFill>
                          <a:latin typeface="Calibri"/>
                        </a:rPr>
                        <a:t>Forecasting</a:t>
                      </a:r>
                    </a:p>
                  </a:txBody>
                  <a:tcPr>
                    <a:solidFill>
                      <a:srgbClr val="EBF1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0" sz="1100">
                          <a:solidFill>
                            <a:srgbClr val="1C1C1C"/>
                          </a:solidFill>
                          <a:latin typeface="Calibri"/>
                        </a:rPr>
                        <a:t>100%</a:t>
                      </a:r>
                    </a:p>
                  </a:txBody>
                  <a:tcPr>
                    <a:solidFill>
                      <a:srgbClr val="EBF1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0" sz="1100">
                          <a:solidFill>
                            <a:srgbClr val="1C1C1C"/>
                          </a:solidFill>
                          <a:latin typeface="Calibri"/>
                        </a:rPr>
                        <a:t>~1.7 km/h</a:t>
                      </a:r>
                    </a:p>
                  </a:txBody>
                  <a:tcPr>
                    <a:solidFill>
                      <a:srgbClr val="EBF1FA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/>
                      <a:r>
                        <a:rPr b="0" sz="1100">
                          <a:solidFill>
                            <a:srgbClr val="1C1C1C"/>
                          </a:solidFill>
                          <a:latin typeface="Calibri"/>
                        </a:rPr>
                        <a:t>Graph WaveNet (Wu et al., 2019)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0" sz="1100">
                          <a:solidFill>
                            <a:srgbClr val="1C1C1C"/>
                          </a:solidFill>
                          <a:latin typeface="Calibri"/>
                        </a:rPr>
                        <a:t>IJCAI 2019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0" sz="1100">
                          <a:solidFill>
                            <a:srgbClr val="1C1C1C"/>
                          </a:solidFill>
                          <a:latin typeface="Calibri"/>
                        </a:rPr>
                        <a:t>Forecasting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0" sz="1100">
                          <a:solidFill>
                            <a:srgbClr val="1C1C1C"/>
                          </a:solidFill>
                          <a:latin typeface="Calibri"/>
                        </a:rPr>
                        <a:t>100%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0" sz="1100">
                          <a:solidFill>
                            <a:srgbClr val="1C1C1C"/>
                          </a:solidFill>
                          <a:latin typeface="Calibri"/>
                        </a:rPr>
                        <a:t>~1.6 km/h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/>
                      <a:r>
                        <a:rPr b="0" sz="1100">
                          <a:solidFill>
                            <a:srgbClr val="1C1C1C"/>
                          </a:solidFill>
                          <a:latin typeface="Calibri"/>
                        </a:rPr>
                        <a:t>AGCRN (Bai et al., 2020)</a:t>
                      </a:r>
                    </a:p>
                  </a:txBody>
                  <a:tcPr>
                    <a:solidFill>
                      <a:srgbClr val="EBF1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0" sz="1100">
                          <a:solidFill>
                            <a:srgbClr val="1C1C1C"/>
                          </a:solidFill>
                          <a:latin typeface="Calibri"/>
                        </a:rPr>
                        <a:t>NeurIPS 2020</a:t>
                      </a:r>
                    </a:p>
                  </a:txBody>
                  <a:tcPr>
                    <a:solidFill>
                      <a:srgbClr val="EBF1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0" sz="1100">
                          <a:solidFill>
                            <a:srgbClr val="1C1C1C"/>
                          </a:solidFill>
                          <a:latin typeface="Calibri"/>
                        </a:rPr>
                        <a:t>Forecasting</a:t>
                      </a:r>
                    </a:p>
                  </a:txBody>
                  <a:tcPr>
                    <a:solidFill>
                      <a:srgbClr val="EBF1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0" sz="1100">
                          <a:solidFill>
                            <a:srgbClr val="1C1C1C"/>
                          </a:solidFill>
                          <a:latin typeface="Calibri"/>
                        </a:rPr>
                        <a:t>100%</a:t>
                      </a:r>
                    </a:p>
                  </a:txBody>
                  <a:tcPr>
                    <a:solidFill>
                      <a:srgbClr val="EBF1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0" sz="1100">
                          <a:solidFill>
                            <a:srgbClr val="1C1C1C"/>
                          </a:solidFill>
                          <a:latin typeface="Calibri"/>
                        </a:rPr>
                        <a:t>~1.5 km/h</a:t>
                      </a:r>
                    </a:p>
                  </a:txBody>
                  <a:tcPr>
                    <a:solidFill>
                      <a:srgbClr val="EBF1FA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/>
                      <a:r>
                        <a:rPr b="0" sz="1100">
                          <a:solidFill>
                            <a:srgbClr val="1C1C1C"/>
                          </a:solidFill>
                          <a:latin typeface="Calibri"/>
                        </a:rPr>
                        <a:t>Ours (full model)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0" sz="1100">
                          <a:solidFill>
                            <a:srgbClr val="1C1C1C"/>
                          </a:solidFill>
                          <a:latin typeface="Calibri"/>
                        </a:rPr>
                        <a:t>This thesis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0" sz="1100">
                          <a:solidFill>
                            <a:srgbClr val="1C1C1C"/>
                          </a:solidFill>
                          <a:latin typeface="Calibri"/>
                        </a:rPr>
                        <a:t>Imputation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0" sz="1100">
                          <a:solidFill>
                            <a:srgbClr val="1C1C1C"/>
                          </a:solidFill>
                          <a:latin typeface="Calibri"/>
                        </a:rPr>
                        <a:t>20%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0" sz="1100">
                          <a:solidFill>
                            <a:srgbClr val="1C1C1C"/>
                          </a:solidFill>
                          <a:latin typeface="Calibri"/>
                        </a:rPr>
                        <a:t>5.18 km/h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8" name="Rectangle 7"/>
          <p:cNvSpPr/>
          <p:nvPr/>
        </p:nvSpPr>
        <p:spPr>
          <a:xfrm>
            <a:off x="320040" y="4297680"/>
            <a:ext cx="11548872" cy="1737360"/>
          </a:xfrm>
          <a:prstGeom prst="rect">
            <a:avLst/>
          </a:prstGeom>
          <a:solidFill>
            <a:srgbClr val="FFEBEE"/>
          </a:solidFill>
          <a:ln w="19050">
            <a:solidFill>
              <a:srgbClr val="C0392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02920" y="4361688"/>
            <a:ext cx="11183112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C0392B"/>
                </a:solidFill>
                <a:latin typeface="Calibri"/>
              </a:rPr>
              <a:t>Why the MAE gap (~3×) is expected — NOT a weakness: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02920" y="4736592"/>
            <a:ext cx="11183112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1C1C1C"/>
                </a:solidFill>
                <a:latin typeface="Calibri"/>
              </a:rPr>
              <a:t>▸  DCRNN/STGCN/WaveNet: all 307 sensors observed, predict only 1 future step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02920" y="5129784"/>
            <a:ext cx="11183112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1C1C1C"/>
                </a:solidFill>
                <a:latin typeface="Calibri"/>
              </a:rPr>
              <a:t>▸  This work: only 61 sensors observed (80% missing), must recover ALL 246 blind node speeds simultaneously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02920" y="5522976"/>
            <a:ext cx="11183112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1C1C1C"/>
                </a:solidFill>
                <a:latin typeface="Calibri"/>
              </a:rPr>
              <a:t>▸  Imputation with 80% missing data is fundamentally a harder, different task — comparison is directional only</a:t>
            </a:r>
          </a:p>
        </p:txBody>
      </p:sp>
      <p:sp>
        <p:nvSpPr>
          <p:cNvPr id="13" name="Rectangle 12"/>
          <p:cNvSpPr/>
          <p:nvPr/>
        </p:nvSpPr>
        <p:spPr>
          <a:xfrm>
            <a:off x="0" y="6537960"/>
            <a:ext cx="12188952" cy="320040"/>
          </a:xfrm>
          <a:prstGeom prst="rect">
            <a:avLst/>
          </a:prstGeom>
          <a:solidFill>
            <a:srgbClr val="2E6F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1640312" y="6565392"/>
            <a:ext cx="4572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 i="0">
                <a:solidFill>
                  <a:srgbClr val="FFFFFF"/>
                </a:solidFill>
                <a:latin typeface="Calibri"/>
              </a:rPr>
              <a:t>14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74320" y="6565392"/>
            <a:ext cx="73152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FFFFFF"/>
                </a:solidFill>
                <a:latin typeface="Calibri"/>
              </a:rPr>
              <a:t>Hypergraph Neural ODEs for Sparse Traffic Imputation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594360"/>
          </a:xfrm>
          <a:prstGeom prst="rect">
            <a:avLst/>
          </a:prstGeom>
          <a:solidFill>
            <a:srgbClr val="1B2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74320" y="91440"/>
            <a:ext cx="11640312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 i="0">
                <a:solidFill>
                  <a:srgbClr val="FFFFFF"/>
                </a:solidFill>
                <a:latin typeface="Calibri"/>
              </a:rPr>
              <a:t>15</a:t>
            </a:r>
          </a:p>
        </p:txBody>
      </p:sp>
      <p:sp>
        <p:nvSpPr>
          <p:cNvPr id="4" name="Rectangle 3"/>
          <p:cNvSpPr/>
          <p:nvPr/>
        </p:nvSpPr>
        <p:spPr>
          <a:xfrm>
            <a:off x="274320" y="731520"/>
            <a:ext cx="64008" cy="502920"/>
          </a:xfrm>
          <a:prstGeom prst="rect">
            <a:avLst/>
          </a:prstGeom>
          <a:solidFill>
            <a:srgbClr val="2E6F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02920" y="685800"/>
            <a:ext cx="11274552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 i="0">
                <a:solidFill>
                  <a:srgbClr val="1B2A4A"/>
                </a:solidFill>
                <a:latin typeface="Calibri"/>
              </a:rPr>
              <a:t>Conclusion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1207008"/>
            <a:ext cx="11274552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1">
                <a:solidFill>
                  <a:srgbClr val="555555"/>
                </a:solidFill>
                <a:latin typeface="Calibri"/>
              </a:rPr>
              <a:t>A new architecture for sparse traffic speed imputation</a:t>
            </a:r>
          </a:p>
        </p:txBody>
      </p:sp>
      <p:sp>
        <p:nvSpPr>
          <p:cNvPr id="7" name="Rectangle 6"/>
          <p:cNvSpPr/>
          <p:nvPr/>
        </p:nvSpPr>
        <p:spPr>
          <a:xfrm>
            <a:off x="320040" y="1508760"/>
            <a:ext cx="7040880" cy="3337560"/>
          </a:xfrm>
          <a:prstGeom prst="rect">
            <a:avLst/>
          </a:prstGeom>
          <a:solidFill>
            <a:srgbClr val="EBF1FA"/>
          </a:solidFill>
          <a:ln w="6350">
            <a:solidFill>
              <a:srgbClr val="C5D6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1618488"/>
            <a:ext cx="67665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1B2A4A"/>
                </a:solidFill>
                <a:latin typeface="Calibri"/>
              </a:rPr>
              <a:t>Contributions</a:t>
            </a:r>
          </a:p>
        </p:txBody>
      </p:sp>
      <p:sp>
        <p:nvSpPr>
          <p:cNvPr id="9" name="Rectangle 8"/>
          <p:cNvSpPr/>
          <p:nvPr/>
        </p:nvSpPr>
        <p:spPr>
          <a:xfrm>
            <a:off x="457200" y="2002536"/>
            <a:ext cx="6766560" cy="18288"/>
          </a:xfrm>
          <a:prstGeom prst="rect">
            <a:avLst/>
          </a:prstGeom>
          <a:solidFill>
            <a:srgbClr val="2E6F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84632" y="2075688"/>
            <a:ext cx="6711696" cy="2606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300"/>
              </a:spcBef>
            </a:pPr>
            <a:r>
              <a:rPr sz="1250">
                <a:solidFill>
                  <a:srgbClr val="1C1C1C"/>
                </a:solidFill>
                <a:latin typeface="Calibri"/>
              </a:rPr>
              <a:t>▸  Hypergraph Neural ODE — first application to sparse traffic imputation</a:t>
            </a:r>
          </a:p>
          <a:p>
            <a:pPr>
              <a:spcBef>
                <a:spcPts val="300"/>
              </a:spcBef>
            </a:pPr>
            <a:r>
              <a:rPr sz="1250">
                <a:solidFill>
                  <a:srgbClr val="1C1C1C"/>
                </a:solidFill>
                <a:latin typeface="Calibri"/>
              </a:rPr>
              <a:t>▸  Gated HGNN fusion — prevents over-smoothing at congested nodes</a:t>
            </a:r>
          </a:p>
          <a:p>
            <a:pPr>
              <a:spcBef>
                <a:spcPts val="300"/>
              </a:spcBef>
            </a:pPr>
            <a:r>
              <a:rPr sz="1250">
                <a:solidFill>
                  <a:srgbClr val="1C1C1C"/>
                </a:solidFill>
                <a:latin typeface="Calibri"/>
              </a:rPr>
              <a:t>▸  Kalman-style assimilation — injects sensor readings continuously without leakage</a:t>
            </a:r>
          </a:p>
          <a:p>
            <a:pPr>
              <a:spcBef>
                <a:spcPts val="300"/>
              </a:spcBef>
            </a:pPr>
            <a:r>
              <a:rPr sz="1250">
                <a:solidFill>
                  <a:srgbClr val="1C1C1C"/>
                </a:solidFill>
                <a:latin typeface="Calibri"/>
              </a:rPr>
              <a:t>▸  Physics-informed loss — LWR flow continuity via graph Laplacian regularisation</a:t>
            </a:r>
          </a:p>
          <a:p>
            <a:pPr>
              <a:spcBef>
                <a:spcPts val="300"/>
              </a:spcBef>
            </a:pPr>
            <a:r>
              <a:rPr sz="1250">
                <a:solidFill>
                  <a:srgbClr val="1C1C1C"/>
                </a:solidFill>
                <a:latin typeface="Calibri"/>
              </a:rPr>
              <a:t>▸  Curriculum masking + jam-biased sampling — overcomes severe class imbalance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498079" y="1508760"/>
            <a:ext cx="4343400" cy="3337560"/>
          </a:xfrm>
          <a:prstGeom prst="rect">
            <a:avLst/>
          </a:prstGeom>
          <a:solidFill>
            <a:srgbClr val="E8F0FF"/>
          </a:solidFill>
          <a:ln w="6350">
            <a:solidFill>
              <a:srgbClr val="C5D6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635239" y="1618488"/>
            <a:ext cx="40690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1B2A4A"/>
                </a:solidFill>
                <a:latin typeface="Calibri"/>
              </a:rPr>
              <a:t>Future Work</a:t>
            </a:r>
          </a:p>
        </p:txBody>
      </p:sp>
      <p:sp>
        <p:nvSpPr>
          <p:cNvPr id="13" name="Rectangle 12"/>
          <p:cNvSpPr/>
          <p:nvPr/>
        </p:nvSpPr>
        <p:spPr>
          <a:xfrm>
            <a:off x="7635239" y="2002536"/>
            <a:ext cx="4069080" cy="18288"/>
          </a:xfrm>
          <a:prstGeom prst="rect">
            <a:avLst/>
          </a:prstGeom>
          <a:solidFill>
            <a:srgbClr val="2E6F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662671" y="2075688"/>
            <a:ext cx="4014216" cy="2606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300"/>
              </a:spcBef>
            </a:pPr>
            <a:r>
              <a:rPr sz="1250">
                <a:solidFill>
                  <a:srgbClr val="1C1C1C"/>
                </a:solidFill>
                <a:latin typeface="Calibri"/>
              </a:rPr>
              <a:t>▸  Directed hyperedges following traffic flow direction</a:t>
            </a:r>
          </a:p>
          <a:p>
            <a:pPr>
              <a:spcBef>
                <a:spcPts val="300"/>
              </a:spcBef>
            </a:pPr>
            <a:r>
              <a:rPr sz="1250">
                <a:solidFill>
                  <a:srgbClr val="1C1C1C"/>
                </a:solidFill>
                <a:latin typeface="Calibri"/>
              </a:rPr>
              <a:t>▸  Dynamic hypergraph (edges change with congestion patterns)</a:t>
            </a:r>
          </a:p>
          <a:p>
            <a:pPr>
              <a:spcBef>
                <a:spcPts val="300"/>
              </a:spcBef>
            </a:pPr>
            <a:r>
              <a:rPr sz="1250">
                <a:solidFill>
                  <a:srgbClr val="1C1C1C"/>
                </a:solidFill>
                <a:latin typeface="Calibri"/>
              </a:rPr>
              <a:t>▸  Neural ODE adjoint method for full continuous-time training</a:t>
            </a:r>
          </a:p>
          <a:p>
            <a:pPr>
              <a:spcBef>
                <a:spcPts val="300"/>
              </a:spcBef>
            </a:pPr>
            <a:r>
              <a:rPr sz="1250">
                <a:solidFill>
                  <a:srgbClr val="1C1C1C"/>
                </a:solidFill>
                <a:latin typeface="Calibri"/>
              </a:rPr>
              <a:t>▸  Multi-variate imputation: speed + flow + occupancy jointly</a:t>
            </a:r>
          </a:p>
        </p:txBody>
      </p:sp>
      <p:sp>
        <p:nvSpPr>
          <p:cNvPr id="15" name="Rectangle 14"/>
          <p:cNvSpPr/>
          <p:nvPr/>
        </p:nvSpPr>
        <p:spPr>
          <a:xfrm>
            <a:off x="320040" y="5047488"/>
            <a:ext cx="11548872" cy="1463040"/>
          </a:xfrm>
          <a:prstGeom prst="rect">
            <a:avLst/>
          </a:prstGeom>
          <a:solidFill>
            <a:srgbClr val="1B2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02920" y="5120640"/>
            <a:ext cx="11183112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 i="0">
                <a:solidFill>
                  <a:srgbClr val="FFFFFF"/>
                </a:solidFill>
                <a:latin typeface="Calibri"/>
              </a:rPr>
              <a:t>Final Results — 80% Sparsity, PEMS04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02920" y="5504688"/>
            <a:ext cx="11183112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0">
                <a:solidFill>
                  <a:srgbClr val="EBF1FA"/>
                </a:solidFill>
                <a:latin typeface="Calibri"/>
              </a:rPr>
              <a:t>Overall blind-node MAE: 5.18 km/h    ·    Jam MAE: 33.93 km/h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02920" y="5916168"/>
            <a:ext cx="11183112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0">
                <a:solidFill>
                  <a:srgbClr val="EBF1FA"/>
                </a:solidFill>
                <a:latin typeface="Calibri"/>
              </a:rPr>
              <a:t>5.7% improvement over global mean on congestion  ·  Validated at 5 sparsity levels (20–90%)</a:t>
            </a:r>
          </a:p>
        </p:txBody>
      </p:sp>
      <p:sp>
        <p:nvSpPr>
          <p:cNvPr id="19" name="Rectangle 18"/>
          <p:cNvSpPr/>
          <p:nvPr/>
        </p:nvSpPr>
        <p:spPr>
          <a:xfrm>
            <a:off x="0" y="6537960"/>
            <a:ext cx="12188952" cy="320040"/>
          </a:xfrm>
          <a:prstGeom prst="rect">
            <a:avLst/>
          </a:prstGeom>
          <a:solidFill>
            <a:srgbClr val="2E6F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1640312" y="6565392"/>
            <a:ext cx="4572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 i="0">
                <a:solidFill>
                  <a:srgbClr val="FFFFFF"/>
                </a:solidFill>
                <a:latin typeface="Calibri"/>
              </a:rPr>
              <a:t>15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274320" y="6565392"/>
            <a:ext cx="73152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FFFFFF"/>
                </a:solidFill>
                <a:latin typeface="Calibri"/>
              </a:rPr>
              <a:t>Hypergraph Neural ODEs for Sparse Traffic Imputation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1B2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3063240"/>
            <a:ext cx="12188952" cy="73152"/>
          </a:xfrm>
          <a:prstGeom prst="rect">
            <a:avLst/>
          </a:prstGeom>
          <a:solidFill>
            <a:srgbClr val="2E6F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0" y="914400"/>
            <a:ext cx="12188952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800" b="1" i="0">
                <a:solidFill>
                  <a:srgbClr val="FFFFFF"/>
                </a:solidFill>
                <a:latin typeface="Calibri"/>
              </a:rPr>
              <a:t>Thank You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0" y="2148840"/>
            <a:ext cx="12188952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00" b="0" i="1">
                <a:solidFill>
                  <a:srgbClr val="2E6FD9"/>
                </a:solidFill>
                <a:latin typeface="Calibri"/>
              </a:rPr>
              <a:t>Questions &amp; Discussion</a:t>
            </a:r>
          </a:p>
        </p:txBody>
      </p:sp>
      <p:sp>
        <p:nvSpPr>
          <p:cNvPr id="6" name="Rectangle 5"/>
          <p:cNvSpPr/>
          <p:nvPr/>
        </p:nvSpPr>
        <p:spPr>
          <a:xfrm>
            <a:off x="1828800" y="3337560"/>
            <a:ext cx="8531352" cy="36576"/>
          </a:xfrm>
          <a:prstGeom prst="rect">
            <a:avLst/>
          </a:prstGeom>
          <a:solidFill>
            <a:srgbClr val="2E6F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0" y="3566160"/>
            <a:ext cx="12188952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>
                <a:solidFill>
                  <a:srgbClr val="EBF1FA"/>
                </a:solidFill>
                <a:latin typeface="Calibri"/>
              </a:rPr>
              <a:t>Dataset: PEMS04  ·  307 sensors  ·  80% sparsity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0" y="4069080"/>
            <a:ext cx="12188952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>
                <a:solidFill>
                  <a:srgbClr val="EBF1FA"/>
                </a:solidFill>
                <a:latin typeface="Calibri"/>
              </a:rPr>
              <a:t>Architecture: Hypergraph GAT-ODE + Kalman Assimilation + Physics Loss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0" y="4572000"/>
            <a:ext cx="12188952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>
                <a:solidFill>
                  <a:srgbClr val="EBF1FA"/>
                </a:solidFill>
                <a:latin typeface="Calibri"/>
              </a:rPr>
              <a:t>Results: 5.18 km/h overall MAE  ·  33.93 km/h jam MAE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0" y="5074920"/>
            <a:ext cx="12188952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>
                <a:solidFill>
                  <a:srgbClr val="EBF1FA"/>
                </a:solidFill>
                <a:latin typeface="Calibri"/>
              </a:rPr>
              <a:t>Branch: claude/improve-repo-quality-MODmC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6537960"/>
            <a:ext cx="12188952" cy="320040"/>
          </a:xfrm>
          <a:prstGeom prst="rect">
            <a:avLst/>
          </a:prstGeom>
          <a:solidFill>
            <a:srgbClr val="2E6F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1640312" y="6565392"/>
            <a:ext cx="4572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 i="0">
                <a:solidFill>
                  <a:srgbClr val="FFFFFF"/>
                </a:solidFill>
                <a:latin typeface="Calibri"/>
              </a:rPr>
              <a:t>16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74320" y="6565392"/>
            <a:ext cx="73152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FFFFFF"/>
                </a:solidFill>
                <a:latin typeface="Calibri"/>
              </a:rPr>
              <a:t>Hypergraph Neural ODEs for Sparse Traffic Imputation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