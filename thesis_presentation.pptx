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198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[University Name]  ·  [Department / School of Engineering]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007999"/>
            <a:ext cx="108972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2A4A"/>
                </a:solidFill>
                <a:latin typeface="Calibri"/>
              </a:rPr>
              <a:t>Hypergraph Neural ODEs with Observation Assimilation
for Sparse Traffic Speed Imputation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2268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88000" y="244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Thesis submitted for the degree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8000" y="248401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C1C"/>
                </a:solidFill>
                <a:latin typeface="Calibri"/>
              </a:rPr>
              <a:t>Master of Science in [Programme]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8000" y="2520042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8000" y="2556052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Calibri"/>
              </a:rPr>
              <a:t>Author:      [Full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8000" y="2592072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Supervisor:  [Supervisor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8000" y="262809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Date:        March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32001"/>
            <a:ext cx="12193200" cy="125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6462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Keywords: Graph Neural ODE · Hypergraph Convolution · Traffic Imputation · Observation Assimilation · Physics-Informed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1.  Motivation &amp; Problem Statement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2.  Background &amp; State of the Art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3.  Dataset &amp; Experimental Setup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4.  Proposed Architecture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4.1  Graph Attention ODE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4.2  Hypergraph Convolution (gated)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4.3  Observation Assimilation Gate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4.4  Physics-Informed Loss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5.  Training Strategy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6.  Results &amp; Analysis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6.1  Main evaluation (80% sparsity)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6.2  Sensor sparsity sweep (20 – 90%)</a:t>
            </a:r>
          </a:p>
          <a:p>
            <a:pPr>
              <a:spcBef>
                <a:spcPts val="300"/>
              </a:spcBef>
            </a:pPr>
            <a:r>
              <a:rPr sz="1400" b="0" i="1">
                <a:solidFill>
                  <a:srgbClr val="555555"/>
                </a:solidFill>
                <a:latin typeface="Calibri"/>
              </a:rPr>
              <a:t>      6.3  Ablation study</a:t>
            </a:r>
          </a:p>
          <a:p>
            <a:pPr>
              <a:spcBef>
                <a:spcPts val="300"/>
              </a:spcBef>
            </a:pPr>
            <a:r>
              <a:rPr sz="1600" b="1" i="0">
                <a:solidFill>
                  <a:srgbClr val="1B2A4A"/>
                </a:solidFill>
                <a:latin typeface="Calibri"/>
              </a:rPr>
              <a:t>7. 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Calibri"/>
              </a:rPr>
              <a:t>Real sensor networks are never complete.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584000"/>
            <a:ext cx="108972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C1C1C"/>
                </a:solidFill>
                <a:latin typeface="Calibri"/>
              </a:rPr>
              <a:t>–  Hardware failures, maintenance windows, and budget constraints leave many sensors dark at any moment.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C1C1C"/>
                </a:solidFill>
                <a:latin typeface="Calibri"/>
              </a:rPr>
              <a:t>–  California PEMS04: 307 sensors across SF Bay Area freeways — realistic deployments observe only 20–60%.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C1C1C"/>
                </a:solidFill>
                <a:latin typeface="Calibri"/>
              </a:rPr>
              <a:t>–  Missing speed data blocks: route planning, incident detection, signal timing, emissions modelling.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C1C1C"/>
                </a:solidFill>
                <a:latin typeface="Calibri"/>
              </a:rPr>
              <a:t>–  This work: 80% of sensors are unobserved — we must infer ~246 blind node speeds from ~61 observed.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4968000"/>
            <a:ext cx="10897200" cy="10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5076000"/>
            <a:ext cx="1060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5346000"/>
            <a:ext cx="106092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C1C1C"/>
                </a:solidFill>
                <a:latin typeface="Calibri"/>
              </a:rPr>
              <a:t>Can a Hypergraph Neural ODE with learned sensor assimilation accurately recover traffic speeds at unobserved sensors — especially during congestion events?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 Background — Task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Imputation vs Forecasting — a critical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512000"/>
            <a:ext cx="534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55555"/>
                </a:solidFill>
                <a:latin typeface="Calibri"/>
              </a:rPr>
              <a:t>Traffic Forecasting (existing work)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764000"/>
            <a:ext cx="53406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835999"/>
            <a:ext cx="53406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555555"/>
                </a:solidFill>
                <a:latin typeface="Calibri"/>
              </a:rPr>
              <a:t>–  All sensors observed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555555"/>
                </a:solidFill>
                <a:latin typeface="Calibri"/>
              </a:rPr>
              <a:t>–  Predict future values (1–3 steps ahead)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555555"/>
                </a:solidFill>
                <a:latin typeface="Calibri"/>
              </a:rPr>
              <a:t>–  Well-studied: DCRNN, STGCN, Graph WaveNet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555555"/>
                </a:solidFill>
                <a:latin typeface="Calibri"/>
              </a:rPr>
              <a:t>–  PEMS04 benchmark MAE: 1.5 – 1.8 km/h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4600" y="1512000"/>
            <a:ext cx="5340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Sparse Imputation  ← This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600" y="1764000"/>
            <a:ext cx="5340600" cy="9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600" y="1835999"/>
            <a:ext cx="53406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B2A4A"/>
                </a:solidFill>
                <a:latin typeface="Calibri"/>
              </a:rPr>
              <a:t>–  80% of sensors are MISSING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2A4A"/>
                </a:solidFill>
                <a:latin typeface="Calibri"/>
              </a:rPr>
              <a:t>–  Recover present values, not future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2A4A"/>
                </a:solidFill>
                <a:latin typeface="Calibri"/>
              </a:rPr>
              <a:t>–  No established deep-learning baseline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2A4A"/>
                </a:solidFill>
                <a:latin typeface="Calibri"/>
              </a:rPr>
              <a:t>–  Jam MAE (speed &lt; 40 km/h) is the key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8600" y="1512000"/>
            <a:ext cx="9000" cy="3024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5040000"/>
            <a:ext cx="10897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Note:  A model predicting the global mean speed achieves 5.18 km/h overall MAE — but completely fails during congestion.  Overall MAE is insufficient; jam MAE must be reported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 Background — State of the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1C"/>
                </a:solidFill>
                <a:latin typeface="Calibri"/>
              </a:rPr>
              <a:t>Published PEMS04 results (full-sensor, 15-min forecasting task)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1692000"/>
          <a:ext cx="10332000" cy="27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  <a:gridCol w="3780000"/>
                <a:gridCol w="151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PEMS04 MAE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DCRNN  (Li et al., 2018)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ICLR 2018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Diffusion GCN + seq2seq RNN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~1.8 km/h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STGCN  (Yu et al., 2018)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IJCAI 2018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Graph conv + temporal conv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~1.7 km/h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Graph WaveNet  (Wu et al., 2019)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IJCAI 2019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Adaptive adj + dilated conv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~1.6 km/h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ASTGCN  (Guo et al., 2019)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AAAI 2019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Spatial + temporal attention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~1.6 km/h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AGCRN  (Bai et al., 2020)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NeurIPS 2020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Node-adaptive GCN + GRU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~1.5 km/h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MSc Thesis 2026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Hypergraph GAT-ODE + Assimilation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5.18 km/h *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8000" y="1692000"/>
            <a:ext cx="1033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2088000"/>
            <a:ext cx="103320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8000" y="4449600"/>
            <a:ext cx="1033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4860000"/>
            <a:ext cx="1089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* Different task: 80% sensors missing (imputation), not full-sensor forecasting.  The ~3× MAE gap reflects task difficulty, not model quality.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5472000"/>
            <a:ext cx="10897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Gap in literature: none of the above models address sparse imputation with &gt;50% missing sensors.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This work fills that gap with a Hypergraph Neural ODE architecture tailored for the imputation setting.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 Dataset and 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PEMS04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40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512000"/>
            <a:ext cx="34884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307 sensors, SF Bay Area freeways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5-minute sampling intervals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5,000 timesteps ≈ 17.4 days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Speed channel extracted (index 2)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Z-score normalised: μ, σ from full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400" y="115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Sparsity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400" y="1440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400" y="1512000"/>
            <a:ext cx="34884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Sparsity ratio: 80%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≈ 61 observed nodes (randomly selected)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≈ 246 blind nodes (must be imputed)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Fixed mask, seed = 42 (reproducible)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Sweep tested: 20%, 40%, 60%, 80%, 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6800" y="115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Train / Val / Eval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6800" y="1440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6800" y="1512000"/>
            <a:ext cx="34884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Train:  t = 0 – 3,999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Val:    t = 4,000 – 4,239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Eval:   t = 4,500 – 4,949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500-step buffer (no temporal leakage)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Non-overlapping 48-step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248000"/>
            <a:ext cx="10897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6-Dimensional Input Feature Vector (per node per timestep — no ground-truth leakage)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8000" y="4518000"/>
          <a:ext cx="10152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800000"/>
                <a:gridCol w="4860000"/>
                <a:gridCol w="306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Feature Name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Blind node value</a:t>
                      </a:r>
                    </a:p>
                  </a:txBody>
                  <a:tcPr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obs_speed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Observed speed (normalised)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0.0  (zeroed)</a:t>
                      </a:r>
                    </a:p>
                  </a:txBody>
                  <a:tcPr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global_ctx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Mean of all observed nodes at time 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Same as observed</a:t>
                      </a:r>
                    </a:p>
                  </a:txBody>
                  <a:tcPr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nbr_ctx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Adj-weighted mean of observed neighbours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0.0 if no obs. nbr</a:t>
                      </a:r>
                    </a:p>
                  </a:txBody>
                  <a:tcPr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is_observed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Binary sensor flag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t_sin / t_cos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Time-of-day cyclic encoding (scaled ×0.25)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Calibri"/>
                        </a:rPr>
                        <a:t>Shared with obs. nodes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48000" y="4518000"/>
            <a:ext cx="1015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8000" y="4824000"/>
            <a:ext cx="101520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000" y="6339600"/>
            <a:ext cx="1015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 Proposed Architecture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1C"/>
                </a:solidFill>
                <a:latin typeface="Calibri"/>
              </a:rPr>
              <a:t>The model processes T = 48 timestep windows recurrently.  At each step: decode → Euler ODE step → assimilation → repeat.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728000"/>
            <a:ext cx="1944000" cy="1080000"/>
          </a:xfrm>
          <a:prstGeom prst="rect">
            <a:avLst/>
          </a:prstGeom>
          <a:noFill/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818000"/>
            <a:ext cx="19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Input Encoder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070000"/>
            <a:ext cx="165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2124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C1C1C"/>
                </a:solidFill>
                <a:latin typeface="Calibri"/>
              </a:rPr>
              <a:t>Linear(6 → 64)
per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000" y="20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0" y="1728000"/>
            <a:ext cx="1944000" cy="1080000"/>
          </a:xfrm>
          <a:prstGeom prst="rect">
            <a:avLst/>
          </a:prstGeom>
          <a:noFill/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0" y="1818000"/>
            <a:ext cx="19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GAT ODE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24000" y="2070000"/>
            <a:ext cx="165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0" y="2124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C1C1C"/>
                </a:solidFill>
                <a:latin typeface="Calibri"/>
              </a:rPr>
              <a:t>2× Graph Attention
Euler  dt = 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0000" y="20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12000" y="1728000"/>
            <a:ext cx="1944000" cy="1080000"/>
          </a:xfrm>
          <a:prstGeom prst="rect">
            <a:avLst/>
          </a:prstGeom>
          <a:noFill/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2000" y="1818000"/>
            <a:ext cx="19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Hypergraph Conv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6000" y="2070000"/>
            <a:ext cx="165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2000" y="2124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C1C1C"/>
                </a:solidFill>
                <a:latin typeface="Calibri"/>
              </a:rPr>
              <a:t>2-hop corridors
Learnable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2000" y="20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4000" y="1728000"/>
            <a:ext cx="1944000" cy="1080000"/>
          </a:xfrm>
          <a:prstGeom prst="rect">
            <a:avLst/>
          </a:prstGeom>
          <a:noFill/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4000" y="1818000"/>
            <a:ext cx="19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Assimilation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000" y="2070000"/>
            <a:ext cx="165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4000" y="2124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C1C1C"/>
                </a:solidFill>
                <a:latin typeface="Calibri"/>
              </a:rPr>
              <a:t>Kalman-style
Sensor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4000" y="2088000"/>
            <a:ext cx="2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6000" y="1728000"/>
            <a:ext cx="1944000" cy="1080000"/>
          </a:xfrm>
          <a:prstGeom prst="rect">
            <a:avLst/>
          </a:prstGeom>
          <a:noFill/>
          <a:ln w="1524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6000" y="1818000"/>
            <a:ext cx="19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Decoder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0000" y="2070000"/>
            <a:ext cx="16560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6000" y="2124000"/>
            <a:ext cx="19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C1C1C"/>
                </a:solidFill>
                <a:latin typeface="Calibri"/>
              </a:rPr>
              <a:t>Linear(64 → 1)
Speed 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3240000"/>
            <a:ext cx="1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ODE step: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0000" y="3240000"/>
            <a:ext cx="9025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Courier New"/>
              </a:rPr>
              <a:t>z_{t+1} = z_t + 0.3 · f_θ(z_t)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3816000"/>
            <a:ext cx="1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f_θ(z):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000" y="3816000"/>
            <a:ext cx="9025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Courier New"/>
              </a:rPr>
              <a:t>LayerNorm( Tanh(GAT₂(Tanh(GAT₁(z)))) + g · HypConv(z) 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00" y="4392000"/>
            <a:ext cx="1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Assimilation: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0000" y="4392000"/>
            <a:ext cx="9025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Courier New"/>
              </a:rPr>
              <a:t>z ← z + σ(W_g [z; z_obs]) ⊙ (z_obs − z) ⊙ obs_mask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000" y="3131999"/>
            <a:ext cx="108972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8000" y="4932000"/>
            <a:ext cx="10897200" cy="1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000" y="5040000"/>
            <a:ext cx="1089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Input tensor shape: [B, N, T, 6]  —  batch × nodes × timesteps × features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Hidden state z ∈ ℝ^{N×64} evolves continuously through the ODE and is corrected by each sensor observation.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4.1–4.2  Graph Attention + Hypergraph Convolution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Graph Attention Network (GAT)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512000"/>
            <a:ext cx="5340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eᵢⱼ = LeakyReLU( aₛᵣᶜ(Whᵢ) + aᵉₛₜ(Whⱼ) 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αᵢⱼ = softmax( eᵢⱼ / τ=2 )  over road neighbours of 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Non-edges masked to −∞ before softmax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Temperature τ=2 prevents collapse to a single neighbour → avoids oscillation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Two stacked GAT layers inside the ODE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8600" y="1152000"/>
            <a:ext cx="10800" cy="414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46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Gated Hypergraph Convolution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6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600" y="1512000"/>
            <a:ext cx="53406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Hyperedge for node i = i ∪ { all 2-hop reachable sensors }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Captures corridor/intersection groups beyond pairwise edges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H_conv = D_v^{⁻½} H D_e^{⁻¹} Hᵀ D_v^{⁻½}  (pre-computed once)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Gate: g = sigmoid(w),  w_init = −2  →  g ≈ 0.12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h = h_GAT + g · HypConv(x)   (gated fusion)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Gate prevents over-smoothing at congested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860000"/>
            <a:ext cx="10897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Without the gate: a jammed sensor in a 2-hop hyperedge with 20 free-flowing corridor members would be averaged toward free-flow — actively contradicting the congestion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4.3–4.4  Observation Assimilation and Physics-Informed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Observation Assimilation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512000"/>
            <a:ext cx="53406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z_obs  = W_obs · x_{t+1}            ← encode new reading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gate   = σ( W_g [z ; z_obs] )      ← Kalman gain (learned)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update = gate ⊙ (z_obs − z) ⊙ obs_mask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z ← z + update                      ← corrected state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C1C1C"/>
                </a:solidFill>
                <a:latin typeface="Calibri"/>
              </a:rPr>
              <a:t>–  obs_mask zeros blind nodes → no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528000"/>
            <a:ext cx="5340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Kalman filter analogy: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726000"/>
            <a:ext cx="5340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  z_pred = A·z  →  z_corr = z_pred + K·(obs − z_pred)
  Our gate ≈ Kalman gain K, but learned from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8600" y="1152000"/>
            <a:ext cx="10800" cy="378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6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Three-Term Loss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6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4600" y="1548000"/>
            <a:ext cx="53406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1.  Jam-weighted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4600" y="1782000"/>
            <a:ext cx="534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FD9"/>
                </a:solidFill>
                <a:latin typeface="Courier New"/>
              </a:rPr>
              <a:t>L_obs = mean( ((ŝ−s)⊙mask)² ⊙ w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4600" y="2051999"/>
            <a:ext cx="5340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 = 4 if speed &lt; 40 km/h,  else 1.  Compensates 12:1 class imbalance.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4600" y="2808000"/>
            <a:ext cx="53406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2.  Temporal smoothness  (λ = 0.60)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600" y="3042000"/>
            <a:ext cx="534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FD9"/>
                </a:solidFill>
                <a:latin typeface="Courier New"/>
              </a:rPr>
              <a:t>L_smooth = mean( (ŝ_{t+1} − ŝ_t)²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600" y="3311999"/>
            <a:ext cx="5340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Penalises step-to-step jumps.  Suppresses post-jam oscillation.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4600" y="4068000"/>
            <a:ext cx="53406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C"/>
                </a:solidFill>
                <a:latin typeface="Calibri"/>
              </a:rPr>
              <a:t>3.  Graph Laplacian physics  (λ = 0.02)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600" y="4302000"/>
            <a:ext cx="5340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6FD9"/>
                </a:solidFill>
                <a:latin typeface="Courier New"/>
              </a:rPr>
              <a:t>L_phys = mean( ||L_sym · v||²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4600" y="4571999"/>
            <a:ext cx="5340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Encodes LWR continuity: speed varies smoothly along roads.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C1C1C"/>
                </a:solidFill>
                <a:latin typeface="Calibri"/>
              </a:rPr>
              <a:t>Three techniques to overcome extreme class imbalance (free-flow 92%  vs  jam 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51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Curriculum Masking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782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835999"/>
            <a:ext cx="34884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15% of observed nodes pseudo-blinded each batch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Speed, nbr_ctx, is_observed features zeroed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Loss computed on their known ground truth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Gradients always flow through blind-node path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Prevents model from ignoring imputation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400" y="151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Jam-Biased Sampling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400" y="1782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400" y="1835999"/>
            <a:ext cx="34884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50% of batches start at a jam timestep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Natural rate of jams: only ~8% of windows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Pre-computed jam_t_valid index for fast lookup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Balanced gradient signal between jam / free-flow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Effective even with 4× jam weight in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1512000"/>
            <a:ext cx="34884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Gradient Accumulation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6800" y="1782000"/>
            <a:ext cx="34884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6800" y="1835999"/>
            <a:ext cx="34884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4 windows accumulated per parameter update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Jam batches: large loss; free-flow: small loss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High variance → oscillating validation MAE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Accumulation smooths this variance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C1C1C"/>
                </a:solidFill>
                <a:latin typeface="Calibri"/>
              </a:rPr>
              <a:t>–  → Loss divided by 4 to preserve effective LR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" y="4860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4914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Calibri"/>
              </a:rPr>
              <a:t>Optimiser:  Adam  lr = 3×10⁻⁴  ·  weight decay = 10⁻⁴  ·  Cosine Annealing T_max = 400  ·  800 epochs  ·  Gradient clip norm = 1.0  ·  Batch window = 48 timesteps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6.1  Results — 80% Sensor Sparsity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Evaluation on held-out set  t = 4,500 – 4,949  (450 timesteps, non-overlapping 48-step windows)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1728000"/>
          <a:ext cx="1026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700000"/>
                <a:gridCol w="2340000"/>
                <a:gridCol w="1800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MAE — all blind nodes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MAE — jam only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vs Global Mean Jam</a:t>
                      </a:r>
                    </a:p>
                  </a:txBody>
                  <a:tcP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Global mean baseline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IDW spatial interpolation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32.95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−8.5%</a:t>
                      </a:r>
                    </a:p>
                  </a:txBody>
                  <a:tcP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Ours — full 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33.93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−5.7%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8000" y="1728000"/>
            <a:ext cx="10260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2160000"/>
            <a:ext cx="102600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8000" y="3441600"/>
            <a:ext cx="10260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3420000"/>
            <a:ext cx="108972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Overall MAE ties the global mean — expected: free-flow (92%) dominates the average and is tightly clustered near μ.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Jam MAE is the meaningful metric: the model achieves 5.7% improvement over global mean and beats IDW on congestion events.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Evaluation uses 48-step windows (same as training) to prevent ODE state drift in long rollouts.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5472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Definition: Jam ≡ speed &lt; 40 km/h  (≈14.4 standard deviations below mean in this dataset).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6.2  Results — Sensor Sparsity Sweep (20 % – 90 %)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Each sparsity level trained independently (150 epochs, hidden = 32).  Goal: verify graceful degradation, not match full-model absolute MAE.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1728000"/>
          <a:ext cx="10512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440000"/>
                <a:gridCol w="2340000"/>
                <a:gridCol w="1980000"/>
                <a:gridCol w="1980000"/>
                <a:gridCol w="1512000"/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Sparsity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Blind sensors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Global Mean Jam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IDW Jam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 Jam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vs Global Mean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36.04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27.35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27.68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+23.2%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35.74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29.73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28.27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+20.9%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36.01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29.98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31.66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+12.1%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32.95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31.19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+13.3%</a:t>
                      </a:r>
                    </a:p>
                  </a:txBody>
                  <a:tcPr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33.81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34.58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+3.9%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8000" y="1728000"/>
            <a:ext cx="1051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2124000"/>
            <a:ext cx="105120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8000" y="4089600"/>
            <a:ext cx="10512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4068000"/>
            <a:ext cx="108972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Model consistently outperforms global-mean baseline at ALL five sparsity levels.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At 90% sparsity, performance approaches baseline — expected: almost no observed neighbour context remains to inform imputation.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C1C1C"/>
                </a:solidFill>
                <a:latin typeface="Calibri"/>
              </a:rPr>
              <a:t>–  Non-monotonicity between 60% and 80% is noise from the lighter 150-epoch training; the overall trend is clearly degrading with sparsity.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6.3  Results —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Each variant removes exactly one component and is re-trained from scratch under identical conditions (300 epochs).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" y="1620000"/>
          <a:ext cx="10440000" cy="31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980000"/>
                <a:gridCol w="1980000"/>
                <a:gridCol w="3060000"/>
              </a:tblGrid>
              <a:tr h="352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Model / Variant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MAE all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MAE jam (km/h)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Δ jam  (full − variant)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Global mean baseline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35.99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IDW (spatial interp.)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32.95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Full model  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33.93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+0.00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  Hypergraph conv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5.54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31.66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−2.27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  Assimilation gate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5.29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32.54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−1.38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  Physics loss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33.32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−0.61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  Neighbour context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5.84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28.99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−4.94</a:t>
                      </a:r>
                    </a:p>
                  </a:txBody>
                  <a:tcPr>
                    <a:noFill/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  Temporal encoding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33.51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C1C1C"/>
                          </a:solidFill>
                          <a:latin typeface="Calibri"/>
                        </a:rPr>
                        <a:t>−0.41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8000" y="1620000"/>
            <a:ext cx="10440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1972800"/>
            <a:ext cx="10440000" cy="9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8000" y="4780800"/>
            <a:ext cx="10440000" cy="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5040000"/>
            <a:ext cx="10897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Δ jam = full_jam − variant_jam.  Positive: removing this component raises jam MAE (component is beneficial).  Negative: removing it reduces jam MAE (component introduces smoothing noise that outweighs benefit at 300 epochs; the gated hypergraph requires more training to converge).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7. 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512000"/>
            <a:ext cx="53406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Hypergraph Neural ODE — first application to sparse traffic imputation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Gated HGNN branch — prevents corridor over-smoothing at jam nodes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Kalman-style assimilation gate — sensor fusion without GT leakage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Physics-informed loss — LWR continuity via graph Laplacian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Curriculum masking + jam-biased sampling — overcomes 12:1 class imbalance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Validated at five sparsity levels (20 % – 90 %)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8600" y="1152000"/>
            <a:ext cx="10800" cy="360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4600" y="1152000"/>
            <a:ext cx="5340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Future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600" y="1440000"/>
            <a:ext cx="5340600" cy="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600" y="1512000"/>
            <a:ext cx="53406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Directed hyperedges following traffic flow direction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Dynamic hypergraph (edges adapt with congestion patterns)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Neural ODE adjoint method for full continuous-time training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Multi-variate imputation: speed + flow + occupancy jointly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C1C1C"/>
                </a:solidFill>
                <a:latin typeface="Calibri"/>
              </a:rPr>
              <a:t>–  Online sensor selection — adaptive mask during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" y="4968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5040000"/>
            <a:ext cx="1089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Final results (80% sparsity, PEMS04 eval set):   Overall blind-node MAE = 5.18 km/h   ·   Jam MAE = 33.93 km/h   ·   5.7% improvement over global-mean baseline on congestion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4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72000"/>
            <a:ext cx="10897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8000" y="6516000"/>
            <a:ext cx="1089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653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Traffic Speed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3200" y="65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152000"/>
            <a:ext cx="108972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[1]  Y. Li et al., 'Diffusion Convolutional Recurrent Neural Network: Data-Driven Traffic Forecasting,' ICLR, 2018.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[2]  B. Yu et al., 'Spatio-Temporal Graph Convolutional Networks: A Deep Learning Framework for Traffic Forecasting,' IJCAI, 2018.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[3]  Z. Wu et al., 'Graph WaveNet for Deep Spatial-Temporal Graph Modeling,' IJCAI, 2019.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[4]  T. N. Kipf and M. Welling, 'Semi-Supervised Classification with Graph Convolutional Networks,' ICLR, 2017.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[5]  P. Velickovic et al., 'Graph Attention Networks,' ICLR, 2018.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[6]  R. T. Q. Chen et al., 'Neural Ordinary Differential Equations,' NeurIPS, 2018.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[7]  Y. Feng et al., 'Hypergraph Neural Networks,' AAAI, 2019.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[8]  R. E. Kalman, 'A New Approach to Linear Filtering and Prediction Problems,' J. Basic Eng., 1960.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[9]  M. Raissi et al., 'Physics-Informed Neural Networks,' J. Computational Physics, 2019.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C1C1C"/>
                </a:solidFill>
                <a:latin typeface="Calibri"/>
              </a:rPr>
              <a:t>[10] M. J. Lighthill and G. B. Whitham, 'On Kinematic Waves II: A Theory of Traffic Flow,' Proc. R. Soc., 1955.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32001"/>
            <a:ext cx="12193200" cy="12599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2000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088000" y="2520000"/>
            <a:ext cx="8017200" cy="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28000"/>
            <a:ext cx="121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2E6FD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00000"/>
            <a:ext cx="1219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Hypergraph Neural ODEs with Observation Assimilation for Sparse Traffic Speed Imputation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24000"/>
            <a:ext cx="1219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[Author Name]  ·  [University]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